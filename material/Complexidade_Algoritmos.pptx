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zOWSf9q9YWmrQEa8DrMXpXGzE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1" name="Google Shape;8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0040" y="256032"/>
            <a:ext cx="1704442" cy="25603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0040" y="274320"/>
            <a:ext cx="17044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REVISÃO DE CÓDIGO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sequencial — código completo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347525" y="1399025"/>
            <a:ext cx="8503800" cy="37581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86381" y="1399027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  #include &lt;iostream&gt;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6381" y="1635407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  using namespace std;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93256" y="1840702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int buscaSequencial(int lista[], int tamanho, int alvo, int &amp;ciclos)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93256" y="2044594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ciclos = 0;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6384" y="2265449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for (int i = 0; i &lt; tamanho; i++)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93256" y="2451966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ciclos++;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93256" y="2690170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if (lista[i] == alvo)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86381" y="2927224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return i;           // posição encontrada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9156" y="3165203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9156" y="3402470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return -1;              // não encontrado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9156" y="3672012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89156" y="3892258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int main() 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89156" y="4147262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int lista[10] = {3, 7, 12, 18, 25, 31, 44, 56, 70, 88};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89156" y="4392154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int ciclos, posicaoEncontrada;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89156" y="4647684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posicaoEncontrada = buscaSequencial(lista, 10, 25, ciclos);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89156" y="4890651"/>
            <a:ext cx="8302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cout &lt;&lt; "Posição: " &lt;&lt; posicaoEncontrada &lt;&lt; "  Ciclos: " &lt;&lt; ciclos &lt;&lt; endl;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320040" y="182880"/>
            <a:ext cx="8503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binária — código completo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320040" y="73152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320040" y="822960"/>
            <a:ext cx="8503920" cy="431596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48056" y="914400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  int buscaBinaria(int lista[], int tamanho, int alvo, int &amp;ciclos)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48056" y="1122883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      ciclos = 0;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48056" y="1331366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      int indiceInicio = 0, indiceFim = tamanho - 1;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48056" y="1539850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4      while (indiceInicio &lt;= indiceFim)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8056" y="1748333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5          ciclos++;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8056" y="1956816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6          int indiceMeio = (indiceInicio + indiceFim) / 2;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48056" y="2165299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7          if (lista[indiceMeio] == alvo)  return indiceMeio;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48056" y="2373782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8          else if (lista[indiceMeio] &lt; alvo)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48056" y="2582266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9              indiceInicio = indiceMeio + 1;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48056" y="2790749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    else                    indiceFim = indiceMeio - 1;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48056" y="2999232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48056" y="3207715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    return -1;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48056" y="3416198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48056" y="3624682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48056" y="3833165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15  int main()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48056" y="4041648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16      int lista[10] = {3, 7, 12, 18, 25, 31, 44, 56, 70, 88};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48056" y="4250131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17      int ciclos, posicaoEncontrada;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48056" y="4458614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18      posicaoEncontrada = buscaBinaria(lista, 10, 25, ciclos);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48056" y="4667098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19      cout &lt;&lt; "Posição: " &lt;&lt; posicaoEncontrada &lt;&lt; "  Ciclos: " &lt;&lt; ciclos &lt;&lt; endl;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48056" y="4875581"/>
            <a:ext cx="8302752" cy="208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 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320040" y="256032"/>
            <a:ext cx="1368000" cy="25590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20040" y="274320"/>
            <a:ext cx="13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Sort — visualização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A cada passagem: encontra o menor, copia para o segundo array e marca como usado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0040" y="17190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Estado inicial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01752" y="20848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40080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40080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15568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115568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591056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591056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066544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066544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542032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542032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0080" y="250545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01752" y="28895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40080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115568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15568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591056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591056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066544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066544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542032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542032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40080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115568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591056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066544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542032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154680" y="17190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Passagem 1 — encontrou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136392" y="20848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474720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474720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950208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950208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425696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425696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901184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901184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376672" y="1938528"/>
            <a:ext cx="438912" cy="530352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376672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474720" y="250545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136392" y="28895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474720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3474720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3950208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950208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425696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425696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901184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4901184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376672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5376672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474720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950208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425696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901184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376672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989320" y="17190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Após passagem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971032" y="20848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309360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309360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784848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6784848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260336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7260336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7735824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7735824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211312" y="1938528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8211312" y="2029968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309360" y="250545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971032" y="288950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309360" y="2743200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309360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784848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6784848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7260336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7260336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7735824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7735824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8211312" y="2743200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8211312" y="2834640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309360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784848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7260336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7735824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211312" y="33284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320040" y="340156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Passagem 2 — encontrou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301752" y="37673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640080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640080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1115568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1115568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591056" y="3621024"/>
            <a:ext cx="438912" cy="530352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1591056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2066544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2066544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542032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2542032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40080" y="41879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301752" y="4572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640080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640080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1115568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1115568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1591056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1591056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2066544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2066544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2542032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2542032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640080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1115568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1591056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2066544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2542032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3154680" y="340156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Após passagem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3136392" y="37673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3474720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3474720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3950208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3950208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4425696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4425696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901184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4901184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376672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>
            <a:off x="5376672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3474720" y="41879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3136392" y="4572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3474720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3474720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3950208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3950208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425696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"/>
          <p:cNvSpPr/>
          <p:nvPr/>
        </p:nvSpPr>
        <p:spPr>
          <a:xfrm>
            <a:off x="4425696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901184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"/>
          <p:cNvSpPr/>
          <p:nvPr/>
        </p:nvSpPr>
        <p:spPr>
          <a:xfrm>
            <a:off x="4901184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5376672" y="4425696"/>
            <a:ext cx="438912" cy="5303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5376672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3474720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3950208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4425696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4901184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5376672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5989320" y="340156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Array destino completo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971032" y="37673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orig[]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6309360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"/>
          <p:cNvSpPr/>
          <p:nvPr/>
        </p:nvSpPr>
        <p:spPr>
          <a:xfrm>
            <a:off x="6309360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6784848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"/>
          <p:cNvSpPr/>
          <p:nvPr/>
        </p:nvSpPr>
        <p:spPr>
          <a:xfrm>
            <a:off x="6784848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7260336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"/>
          <p:cNvSpPr/>
          <p:nvPr/>
        </p:nvSpPr>
        <p:spPr>
          <a:xfrm>
            <a:off x="7260336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7735824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"/>
          <p:cNvSpPr/>
          <p:nvPr/>
        </p:nvSpPr>
        <p:spPr>
          <a:xfrm>
            <a:off x="7735824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8211312" y="3621024"/>
            <a:ext cx="438912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"/>
          <p:cNvSpPr/>
          <p:nvPr/>
        </p:nvSpPr>
        <p:spPr>
          <a:xfrm>
            <a:off x="8211312" y="3712464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8B8FA8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6309360" y="41879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D4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A3D4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5971032" y="4572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dest[]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6309360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6309360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6784848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784848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7260336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"/>
          <p:cNvSpPr/>
          <p:nvPr/>
        </p:nvSpPr>
        <p:spPr>
          <a:xfrm>
            <a:off x="7260336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7735824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"/>
          <p:cNvSpPr/>
          <p:nvPr/>
        </p:nvSpPr>
        <p:spPr>
          <a:xfrm>
            <a:off x="7735824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8211312" y="4425696"/>
            <a:ext cx="438912" cy="530352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"/>
          <p:cNvSpPr/>
          <p:nvPr/>
        </p:nvSpPr>
        <p:spPr>
          <a:xfrm>
            <a:off x="8211312" y="45171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6309360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6784848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7260336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7735824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"/>
          <p:cNvSpPr/>
          <p:nvPr/>
        </p:nvSpPr>
        <p:spPr>
          <a:xfrm>
            <a:off x="8211312" y="50109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"/>
          <p:cNvSpPr/>
          <p:nvPr/>
        </p:nvSpPr>
        <p:spPr>
          <a:xfrm>
            <a:off x="320040" y="4773168"/>
            <a:ext cx="256032" cy="201168"/>
          </a:xfrm>
          <a:prstGeom prst="rect">
            <a:avLst/>
          </a:prstGeom>
          <a:solidFill>
            <a:srgbClr val="1A4D2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"/>
          <p:cNvSpPr/>
          <p:nvPr/>
        </p:nvSpPr>
        <p:spPr>
          <a:xfrm>
            <a:off x="630936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Destino — preenchido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"/>
          <p:cNvSpPr/>
          <p:nvPr/>
        </p:nvSpPr>
        <p:spPr>
          <a:xfrm>
            <a:off x="2496312" y="4773168"/>
            <a:ext cx="256032" cy="201168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"/>
          <p:cNvSpPr/>
          <p:nvPr/>
        </p:nvSpPr>
        <p:spPr>
          <a:xfrm>
            <a:off x="2807208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Menor da passagem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"/>
          <p:cNvSpPr/>
          <p:nvPr/>
        </p:nvSpPr>
        <p:spPr>
          <a:xfrm>
            <a:off x="4672584" y="4773168"/>
            <a:ext cx="256032" cy="201168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"/>
          <p:cNvSpPr/>
          <p:nvPr/>
        </p:nvSpPr>
        <p:spPr>
          <a:xfrm>
            <a:off x="4983480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Já copiado (orig)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6848856" y="4773168"/>
            <a:ext cx="256032" cy="201168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"/>
          <p:cNvSpPr/>
          <p:nvPr/>
        </p:nvSpPr>
        <p:spPr>
          <a:xfrm>
            <a:off x="7159752" y="477316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Não processado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3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"/>
          <p:cNvSpPr/>
          <p:nvPr/>
        </p:nvSpPr>
        <p:spPr>
          <a:xfrm>
            <a:off x="320040" y="256032"/>
            <a:ext cx="1704442" cy="256032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320040" y="274320"/>
            <a:ext cx="17044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REVISÃO DE CÓDIGO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Sort — código completo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4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4"/>
          <p:cNvSpPr/>
          <p:nvPr/>
        </p:nvSpPr>
        <p:spPr>
          <a:xfrm>
            <a:off x="320040" y="1389932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A cada passagem, encontra o menor e posiciona — dois loops aninhados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20050" y="1654575"/>
            <a:ext cx="8503800" cy="35574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"/>
          <p:cNvSpPr/>
          <p:nvPr/>
        </p:nvSpPr>
        <p:spPr>
          <a:xfrm>
            <a:off x="448056" y="1710082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  void selectionSort(int origem[], int destino[], int tamanho, int &amp;comparacoes) {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448056" y="1898029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      comparacoes = 0;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448056" y="2079124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      for (int i = 0; i &lt; tamanho; i++) {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448056" y="2273925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4          int indiceMenor = -1;   // -1 = sem candidato válido ainda (não assume posição 0)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448056" y="2461872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5          for (int j = 0; j &lt; tamanho; j++) {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448056" y="2677229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6              if (origem[j] != -1) {              // só compara se ainda não foi copiado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448056" y="2899439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7                  comparacoes++;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448056" y="3142207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8                  if (indiceMenor == -1 || origem[j] &lt; origem[indiceMenor])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448056" y="3350713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9                      indiceMenor = j;            // novo menor encontrado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448056" y="3552365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        }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448056" y="3569000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    }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448056" y="3798062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        destino[i] = origem[indiceMenor];   // copia para o destino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448056" y="3992862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    origem[indiceMenor] = -1;            // marca como usado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448056" y="4201368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      }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448056" y="4416725"/>
            <a:ext cx="830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nsolas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15  }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4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320040" y="58521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Implemente o Bubble Sort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320040" y="1261872"/>
            <a:ext cx="8503920" cy="786384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320040" y="1261872"/>
            <a:ext cx="54864" cy="786384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475488" y="133502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Como funciona: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75488" y="1591056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cada elemento com o seu vizinho da direita. Se estiver fora de ordem, troque os dois. Repita isso n-1 vezes percorrendo o array — a cada passagem, o maior valor restante 'borbulha' para o final.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347472" y="2139696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Uma passagem — o maior 'borbulha' para o fim: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47472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347472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877824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877824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1408176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1408176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1938528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1938528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2468880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2468880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347472" y="2852928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3401568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3401568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3931920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3931920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4462272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4462272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4992624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4992624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522976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5522976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3931920" y="2852928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6455664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455664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986016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6986016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7516368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7516368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8046720" y="2340864"/>
            <a:ext cx="493776" cy="493776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8046720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8577072" y="2340864"/>
            <a:ext cx="493776" cy="493776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8577072" y="2414016"/>
            <a:ext cx="493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7516368" y="2852928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20040" y="3035808"/>
            <a:ext cx="8503920" cy="256032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57200" y="3072384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 QUE IMPLEMENTAR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320040" y="3364992"/>
            <a:ext cx="8503920" cy="475488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320040" y="3364992"/>
            <a:ext cx="347472" cy="47548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20040" y="3456432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768096" y="3438144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Função bubbleSort(lista[], tamanho, &amp;comparacoes) usando um único array — compare vizinhos e troque se necessário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20040" y="3895344"/>
            <a:ext cx="8503920" cy="475488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320040" y="3895344"/>
            <a:ext cx="347472" cy="47548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20040" y="398678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768096" y="3968496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o array  int lista[10] = {64, 25, 12, 22, 11, 90, 33, 47, 5, 78}  e imprima o array ordenado e o total de comparações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320040" y="4425696"/>
            <a:ext cx="8503920" cy="475488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320040" y="4425696"/>
            <a:ext cx="347472" cy="475488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320040" y="451713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768096" y="4498848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 é o Big-O do Bubble Sort? Por quê? Compare o número de comparações com o Selection Sort para n=10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⏱  implementar no CodeBlocks → testar → comparar com o Selection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20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320040" y="256032"/>
            <a:ext cx="1368000" cy="25590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320040" y="274320"/>
            <a:ext cx="13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/>
          <p:nvPr/>
        </p:nvSpPr>
        <p:spPr>
          <a:xfrm>
            <a:off x="320040" y="166949"/>
            <a:ext cx="1097400" cy="2559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320040" y="137270"/>
            <a:ext cx="109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GABARITO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320050" y="429200"/>
            <a:ext cx="85038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Bubble Sort — código completo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21"/>
          <p:cNvCxnSpPr/>
          <p:nvPr/>
        </p:nvCxnSpPr>
        <p:spPr>
          <a:xfrm>
            <a:off x="320040" y="1001564"/>
            <a:ext cx="850380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21"/>
          <p:cNvSpPr/>
          <p:nvPr/>
        </p:nvSpPr>
        <p:spPr>
          <a:xfrm>
            <a:off x="320040" y="759500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Troca manual com valorTemp — sem funções prontas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320050" y="1052001"/>
            <a:ext cx="8503800" cy="41235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448056" y="1045387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  void bubbleSort(int lista[], int tamanho, int &amp;comparacoes)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48056" y="1207291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      comparacoes = 0;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448056" y="1389753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      for (int i = 0; i &lt; tamanho - 1; i++) {        // n-1 passagens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448056" y="1572213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4          for (int j = 0; j &lt; tamanho - 1 - i; j++) { // reduz a cada passagem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48056" y="1754674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5              comparacoes++;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48056" y="1950841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6              if (lista[j] &gt; lista[j + 1]) {          // vizinhos fora de ordem?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448056" y="2133302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7                  int valorTemp  = lista[j];           // troca manual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448056" y="2315763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8                  lista[j]       = lista[j + 1];       // sem usar swap()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448056" y="2511929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9                  lista[j + 1]   = valorTemp;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448056" y="2694390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  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448056" y="2890557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448056" y="3086723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448056" y="3255479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448056" y="3455941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int main()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448056" y="3645255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int lista[10] = {64,25,12,22,11,90,33,47,5,78};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448056" y="3827716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int comparacoes;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448056" y="4010177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bubbleSort(lista, 10, comparacoes);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448056" y="4220048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for (int i = 0; i &lt; 10; i++)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448056" y="4409362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cout &lt;&lt; lista[i] &lt;&lt; " ";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448056" y="4591823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cout &lt;&lt; endl &lt;&lt; "Comparacoes: " &lt;&lt; comparacoes &lt;&lt; endl;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48056" y="4781137"/>
            <a:ext cx="830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320040" y="5248656"/>
            <a:ext cx="8503920" cy="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457200" y="5285232"/>
            <a:ext cx="832104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Detalhe: o loop interno vai até tamanho - 1 - i porque após cada passagem o maior já está fixado no final — não precisa ser comparado novamente.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21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"/>
          <p:cNvSpPr/>
          <p:nvPr/>
        </p:nvSpPr>
        <p:spPr>
          <a:xfrm>
            <a:off x="320040" y="256032"/>
            <a:ext cx="1097280" cy="25603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32004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Sort vs Bubble Sort — linha a linha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5"/>
          <p:cNvCxnSpPr/>
          <p:nvPr/>
        </p:nvCxnSpPr>
        <p:spPr>
          <a:xfrm>
            <a:off x="320040" y="1227697"/>
            <a:ext cx="850380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5"/>
          <p:cNvSpPr/>
          <p:nvPr/>
        </p:nvSpPr>
        <p:spPr>
          <a:xfrm>
            <a:off x="320040" y="1273439"/>
            <a:ext cx="850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Dois algoritmos O(n²) — mesma classe, estratégias diferentes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320040" y="1577526"/>
            <a:ext cx="4114800" cy="3474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429768" y="1620955"/>
            <a:ext cx="389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Selection Sort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/>
          <p:nvPr/>
        </p:nvSpPr>
        <p:spPr>
          <a:xfrm>
            <a:off x="4663440" y="1570674"/>
            <a:ext cx="4114800" cy="3474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4773168" y="1607250"/>
            <a:ext cx="389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Bubble Sort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320050" y="2010719"/>
            <a:ext cx="4114800" cy="677700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320040" y="2249424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475488" y="2059867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Estratégia: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475500" y="2249415"/>
            <a:ext cx="3840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cada passagem, encontra o MENOR de todo o restante e posiciona.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4663450" y="2059870"/>
            <a:ext cx="4114800" cy="628500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"/>
          <p:cNvSpPr/>
          <p:nvPr/>
        </p:nvSpPr>
        <p:spPr>
          <a:xfrm>
            <a:off x="4663440" y="2249424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"/>
          <p:cNvSpPr/>
          <p:nvPr/>
        </p:nvSpPr>
        <p:spPr>
          <a:xfrm>
            <a:off x="4818888" y="2251781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cada passagem, empurra o MAIOR para o final comparando vizinhos.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320040" y="2724912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"/>
          <p:cNvSpPr/>
          <p:nvPr/>
        </p:nvSpPr>
        <p:spPr>
          <a:xfrm>
            <a:off x="320040" y="2724912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"/>
          <p:cNvSpPr/>
          <p:nvPr/>
        </p:nvSpPr>
        <p:spPr>
          <a:xfrm>
            <a:off x="475488" y="276148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Loop externo: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"/>
          <p:cNvSpPr/>
          <p:nvPr/>
        </p:nvSpPr>
        <p:spPr>
          <a:xfrm>
            <a:off x="475488" y="29260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tamanho - 1; i++)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4663440" y="2724912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"/>
          <p:cNvSpPr/>
          <p:nvPr/>
        </p:nvSpPr>
        <p:spPr>
          <a:xfrm>
            <a:off x="4663440" y="2724912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"/>
          <p:cNvSpPr/>
          <p:nvPr/>
        </p:nvSpPr>
        <p:spPr>
          <a:xfrm>
            <a:off x="4818888" y="28163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tamanho - 1; i++)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"/>
          <p:cNvSpPr/>
          <p:nvPr/>
        </p:nvSpPr>
        <p:spPr>
          <a:xfrm>
            <a:off x="320040" y="3200400"/>
            <a:ext cx="4114800" cy="43891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"/>
          <p:cNvSpPr/>
          <p:nvPr/>
        </p:nvSpPr>
        <p:spPr>
          <a:xfrm>
            <a:off x="320040" y="3200400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"/>
          <p:cNvSpPr/>
          <p:nvPr/>
        </p:nvSpPr>
        <p:spPr>
          <a:xfrm>
            <a:off x="475488" y="323697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Loop interno: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475488" y="34015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j = 0; j &lt; tamanho; j++) — varre todo o restante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/>
          <p:cNvSpPr/>
          <p:nvPr/>
        </p:nvSpPr>
        <p:spPr>
          <a:xfrm>
            <a:off x="4663440" y="3200400"/>
            <a:ext cx="4114800" cy="43891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"/>
          <p:cNvSpPr/>
          <p:nvPr/>
        </p:nvSpPr>
        <p:spPr>
          <a:xfrm>
            <a:off x="4663440" y="3200400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"/>
          <p:cNvSpPr/>
          <p:nvPr/>
        </p:nvSpPr>
        <p:spPr>
          <a:xfrm>
            <a:off x="4818888" y="3291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(int j = 0; j &lt; tamanho - 1 - i; j++) — reduz a cada passagem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"/>
          <p:cNvSpPr/>
          <p:nvPr/>
        </p:nvSpPr>
        <p:spPr>
          <a:xfrm>
            <a:off x="320040" y="3675888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"/>
          <p:cNvSpPr/>
          <p:nvPr/>
        </p:nvSpPr>
        <p:spPr>
          <a:xfrm>
            <a:off x="320040" y="3675888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"/>
          <p:cNvSpPr/>
          <p:nvPr/>
        </p:nvSpPr>
        <p:spPr>
          <a:xfrm>
            <a:off x="475488" y="37124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Troca: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475488" y="387705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 UMA troca por passagem — ao final, com indiceMenor.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"/>
          <p:cNvSpPr/>
          <p:nvPr/>
        </p:nvSpPr>
        <p:spPr>
          <a:xfrm>
            <a:off x="4663440" y="3675888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"/>
          <p:cNvSpPr/>
          <p:nvPr/>
        </p:nvSpPr>
        <p:spPr>
          <a:xfrm>
            <a:off x="4663440" y="3675888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"/>
          <p:cNvSpPr/>
          <p:nvPr/>
        </p:nvSpPr>
        <p:spPr>
          <a:xfrm>
            <a:off x="4818888" y="37673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Múltiplas trocas por passagem — sempre que vizinhos estão fora de ordem.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320040" y="4151376"/>
            <a:ext cx="4114800" cy="43891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"/>
          <p:cNvSpPr/>
          <p:nvPr/>
        </p:nvSpPr>
        <p:spPr>
          <a:xfrm>
            <a:off x="320040" y="4151376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"/>
          <p:cNvSpPr/>
          <p:nvPr/>
        </p:nvSpPr>
        <p:spPr>
          <a:xfrm>
            <a:off x="475488" y="41879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Arrays: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475488" y="435254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 dois arrays: origem[] e destino[].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4663440" y="4151376"/>
            <a:ext cx="4114800" cy="43891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"/>
          <p:cNvSpPr/>
          <p:nvPr/>
        </p:nvSpPr>
        <p:spPr>
          <a:xfrm>
            <a:off x="4663440" y="4151376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"/>
          <p:cNvSpPr/>
          <p:nvPr/>
        </p:nvSpPr>
        <p:spPr>
          <a:xfrm>
            <a:off x="4818888" y="424281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 um único array — troca in-place com valorTemp.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320040" y="4626864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"/>
          <p:cNvSpPr/>
          <p:nvPr/>
        </p:nvSpPr>
        <p:spPr>
          <a:xfrm>
            <a:off x="320040" y="4626864"/>
            <a:ext cx="54864" cy="4389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5"/>
          <p:cNvSpPr/>
          <p:nvPr/>
        </p:nvSpPr>
        <p:spPr>
          <a:xfrm>
            <a:off x="475488" y="46634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Big-O: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475488" y="482803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O(n²) — n passagens × n comparações.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4663440" y="4626864"/>
            <a:ext cx="4114800" cy="43891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"/>
          <p:cNvSpPr/>
          <p:nvPr/>
        </p:nvSpPr>
        <p:spPr>
          <a:xfrm>
            <a:off x="4663440" y="4626864"/>
            <a:ext cx="54864" cy="43891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"/>
          <p:cNvSpPr/>
          <p:nvPr/>
        </p:nvSpPr>
        <p:spPr>
          <a:xfrm>
            <a:off x="4818888" y="47183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O(n²) — n passagens × n comparações (reduz levemente).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5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"/>
          <p:cNvSpPr/>
          <p:nvPr/>
        </p:nvSpPr>
        <p:spPr>
          <a:xfrm>
            <a:off x="320040" y="256032"/>
            <a:ext cx="1097280" cy="25603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"/>
          <p:cNvSpPr/>
          <p:nvPr/>
        </p:nvSpPr>
        <p:spPr>
          <a:xfrm>
            <a:off x="32004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mesmo Big-O, custos diferentes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6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6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Mesmo Big-O, comportamento diferente na prática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"/>
          <p:cNvSpPr/>
          <p:nvPr/>
        </p:nvSpPr>
        <p:spPr>
          <a:xfrm>
            <a:off x="320040" y="1810512"/>
            <a:ext cx="1463040" cy="45720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"/>
          <p:cNvSpPr/>
          <p:nvPr/>
        </p:nvSpPr>
        <p:spPr>
          <a:xfrm>
            <a:off x="393192" y="1828800"/>
            <a:ext cx="13533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"/>
          <p:cNvSpPr/>
          <p:nvPr/>
        </p:nvSpPr>
        <p:spPr>
          <a:xfrm>
            <a:off x="1783080" y="1810512"/>
            <a:ext cx="1737360" cy="45720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"/>
          <p:cNvSpPr/>
          <p:nvPr/>
        </p:nvSpPr>
        <p:spPr>
          <a:xfrm>
            <a:off x="1856232" y="1828800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Sel.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comparações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"/>
          <p:cNvSpPr/>
          <p:nvPr/>
        </p:nvSpPr>
        <p:spPr>
          <a:xfrm>
            <a:off x="3520440" y="1810512"/>
            <a:ext cx="1737360" cy="45720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"/>
          <p:cNvSpPr/>
          <p:nvPr/>
        </p:nvSpPr>
        <p:spPr>
          <a:xfrm>
            <a:off x="3593592" y="1828800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Bubble Sort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comparações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6"/>
          <p:cNvSpPr/>
          <p:nvPr/>
        </p:nvSpPr>
        <p:spPr>
          <a:xfrm>
            <a:off x="5257800" y="1810512"/>
            <a:ext cx="1737360" cy="45720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"/>
          <p:cNvSpPr/>
          <p:nvPr/>
        </p:nvSpPr>
        <p:spPr>
          <a:xfrm>
            <a:off x="5330952" y="1828800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Busca Seq.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ciclos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6"/>
          <p:cNvSpPr/>
          <p:nvPr/>
        </p:nvSpPr>
        <p:spPr>
          <a:xfrm>
            <a:off x="6995160" y="1810512"/>
            <a:ext cx="1737360" cy="45720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"/>
          <p:cNvSpPr/>
          <p:nvPr/>
        </p:nvSpPr>
        <p:spPr>
          <a:xfrm>
            <a:off x="7068312" y="1828800"/>
            <a:ext cx="16276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Busca Bin.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ciclos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"/>
          <p:cNvSpPr/>
          <p:nvPr/>
        </p:nvSpPr>
        <p:spPr>
          <a:xfrm>
            <a:off x="320040" y="2340864"/>
            <a:ext cx="146304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>
            <a:off x="320040" y="2340864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>
            <a:off x="448056" y="243230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6"/>
          <p:cNvSpPr/>
          <p:nvPr/>
        </p:nvSpPr>
        <p:spPr>
          <a:xfrm>
            <a:off x="1783080" y="2340864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>
            <a:off x="1856232" y="243230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"/>
          <p:cNvSpPr/>
          <p:nvPr/>
        </p:nvSpPr>
        <p:spPr>
          <a:xfrm>
            <a:off x="3520440" y="2340864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>
            <a:off x="3593592" y="243230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~36 (melhor caso)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6"/>
          <p:cNvSpPr/>
          <p:nvPr/>
        </p:nvSpPr>
        <p:spPr>
          <a:xfrm>
            <a:off x="5257800" y="2340864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5330952" y="243230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6995160" y="2340864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>
            <a:off x="7068312" y="243230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6"/>
          <p:cNvSpPr/>
          <p:nvPr/>
        </p:nvSpPr>
        <p:spPr>
          <a:xfrm>
            <a:off x="320040" y="2926080"/>
            <a:ext cx="146304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>
            <a:off x="320040" y="2926080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"/>
          <p:cNvSpPr/>
          <p:nvPr/>
        </p:nvSpPr>
        <p:spPr>
          <a:xfrm>
            <a:off x="448056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"/>
          <p:cNvSpPr/>
          <p:nvPr/>
        </p:nvSpPr>
        <p:spPr>
          <a:xfrm>
            <a:off x="1783080" y="2926080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>
            <a:off x="1856232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4.950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3520440" y="2926080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"/>
          <p:cNvSpPr/>
          <p:nvPr/>
        </p:nvSpPr>
        <p:spPr>
          <a:xfrm>
            <a:off x="3593592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~2.550 (melhor)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6"/>
          <p:cNvSpPr/>
          <p:nvPr/>
        </p:nvSpPr>
        <p:spPr>
          <a:xfrm>
            <a:off x="5257800" y="2926080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"/>
          <p:cNvSpPr/>
          <p:nvPr/>
        </p:nvSpPr>
        <p:spPr>
          <a:xfrm>
            <a:off x="5330952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6"/>
          <p:cNvSpPr/>
          <p:nvPr/>
        </p:nvSpPr>
        <p:spPr>
          <a:xfrm>
            <a:off x="6995160" y="2926080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"/>
          <p:cNvSpPr/>
          <p:nvPr/>
        </p:nvSpPr>
        <p:spPr>
          <a:xfrm>
            <a:off x="7068312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"/>
          <p:cNvSpPr/>
          <p:nvPr/>
        </p:nvSpPr>
        <p:spPr>
          <a:xfrm>
            <a:off x="320040" y="3511296"/>
            <a:ext cx="146304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"/>
          <p:cNvSpPr/>
          <p:nvPr/>
        </p:nvSpPr>
        <p:spPr>
          <a:xfrm>
            <a:off x="320040" y="3511296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6"/>
          <p:cNvSpPr/>
          <p:nvPr/>
        </p:nvSpPr>
        <p:spPr>
          <a:xfrm>
            <a:off x="448056" y="360273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"/>
          <p:cNvSpPr/>
          <p:nvPr/>
        </p:nvSpPr>
        <p:spPr>
          <a:xfrm>
            <a:off x="1783080" y="3511296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"/>
          <p:cNvSpPr/>
          <p:nvPr/>
        </p:nvSpPr>
        <p:spPr>
          <a:xfrm>
            <a:off x="1856232" y="36027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499.500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6"/>
          <p:cNvSpPr/>
          <p:nvPr/>
        </p:nvSpPr>
        <p:spPr>
          <a:xfrm>
            <a:off x="3520440" y="3511296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"/>
          <p:cNvSpPr/>
          <p:nvPr/>
        </p:nvSpPr>
        <p:spPr>
          <a:xfrm>
            <a:off x="3593592" y="36027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~250.000 (melhor)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6"/>
          <p:cNvSpPr/>
          <p:nvPr/>
        </p:nvSpPr>
        <p:spPr>
          <a:xfrm>
            <a:off x="5257800" y="3511296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"/>
          <p:cNvSpPr/>
          <p:nvPr/>
        </p:nvSpPr>
        <p:spPr>
          <a:xfrm>
            <a:off x="5330952" y="36027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6"/>
          <p:cNvSpPr/>
          <p:nvPr/>
        </p:nvSpPr>
        <p:spPr>
          <a:xfrm>
            <a:off x="6995160" y="3511296"/>
            <a:ext cx="17373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"/>
          <p:cNvSpPr/>
          <p:nvPr/>
        </p:nvSpPr>
        <p:spPr>
          <a:xfrm>
            <a:off x="7068312" y="36027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6"/>
          <p:cNvSpPr/>
          <p:nvPr/>
        </p:nvSpPr>
        <p:spPr>
          <a:xfrm>
            <a:off x="320040" y="4096512"/>
            <a:ext cx="146304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6"/>
          <p:cNvSpPr/>
          <p:nvPr/>
        </p:nvSpPr>
        <p:spPr>
          <a:xfrm>
            <a:off x="320040" y="4096512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"/>
          <p:cNvSpPr/>
          <p:nvPr/>
        </p:nvSpPr>
        <p:spPr>
          <a:xfrm>
            <a:off x="448056" y="418795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"/>
          <p:cNvSpPr/>
          <p:nvPr/>
        </p:nvSpPr>
        <p:spPr>
          <a:xfrm>
            <a:off x="1783080" y="4096512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"/>
          <p:cNvSpPr/>
          <p:nvPr/>
        </p:nvSpPr>
        <p:spPr>
          <a:xfrm>
            <a:off x="1856232" y="4187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49.995.000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6"/>
          <p:cNvSpPr/>
          <p:nvPr/>
        </p:nvSpPr>
        <p:spPr>
          <a:xfrm>
            <a:off x="3520440" y="4096512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"/>
          <p:cNvSpPr/>
          <p:nvPr/>
        </p:nvSpPr>
        <p:spPr>
          <a:xfrm>
            <a:off x="3593592" y="4187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~25.000.000 (melhor)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6"/>
          <p:cNvSpPr/>
          <p:nvPr/>
        </p:nvSpPr>
        <p:spPr>
          <a:xfrm>
            <a:off x="5257800" y="4096512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"/>
          <p:cNvSpPr/>
          <p:nvPr/>
        </p:nvSpPr>
        <p:spPr>
          <a:xfrm>
            <a:off x="5330952" y="4187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"/>
          <p:cNvSpPr/>
          <p:nvPr/>
        </p:nvSpPr>
        <p:spPr>
          <a:xfrm>
            <a:off x="6995160" y="4096512"/>
            <a:ext cx="173736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"/>
          <p:cNvSpPr/>
          <p:nvPr/>
        </p:nvSpPr>
        <p:spPr>
          <a:xfrm>
            <a:off x="7068312" y="41879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"/>
          <p:cNvSpPr/>
          <p:nvPr/>
        </p:nvSpPr>
        <p:spPr>
          <a:xfrm>
            <a:off x="320040" y="4718304"/>
            <a:ext cx="8503920" cy="47548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"/>
          <p:cNvSpPr/>
          <p:nvPr/>
        </p:nvSpPr>
        <p:spPr>
          <a:xfrm>
            <a:off x="320040" y="4718304"/>
            <a:ext cx="54864" cy="47548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6"/>
          <p:cNvSpPr/>
          <p:nvPr/>
        </p:nvSpPr>
        <p:spPr>
          <a:xfrm>
            <a:off x="475488" y="4754880"/>
            <a:ext cx="8321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Bubble Sort tem menos comparações no melhor caso?  O loop interno reduz a cada passagem (tamanho - 1 - i) — o Selection Sort sempre percorre todo o restante.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6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6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"/>
          <p:cNvSpPr/>
          <p:nvPr/>
        </p:nvSpPr>
        <p:spPr>
          <a:xfrm>
            <a:off x="320040" y="256032"/>
            <a:ext cx="1097280" cy="25603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"/>
          <p:cNvSpPr/>
          <p:nvPr/>
        </p:nvSpPr>
        <p:spPr>
          <a:xfrm>
            <a:off x="32004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7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os contadores nos dizem?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7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9" name="Google Shape;519;p7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Os dados que você coletou revelam um padrão — vamos formalizá-lo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"/>
          <p:cNvSpPr/>
          <p:nvPr/>
        </p:nvSpPr>
        <p:spPr>
          <a:xfrm>
            <a:off x="320040" y="1810512"/>
            <a:ext cx="164592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7"/>
          <p:cNvSpPr/>
          <p:nvPr/>
        </p:nvSpPr>
        <p:spPr>
          <a:xfrm>
            <a:off x="393192" y="1847088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Valor buscado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"/>
          <p:cNvSpPr/>
          <p:nvPr/>
        </p:nvSpPr>
        <p:spPr>
          <a:xfrm>
            <a:off x="1965960" y="1810512"/>
            <a:ext cx="15544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"/>
          <p:cNvSpPr/>
          <p:nvPr/>
        </p:nvSpPr>
        <p:spPr>
          <a:xfrm>
            <a:off x="2039112" y="184708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Seq — ciclos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7"/>
          <p:cNvSpPr/>
          <p:nvPr/>
        </p:nvSpPr>
        <p:spPr>
          <a:xfrm>
            <a:off x="3520440" y="1810512"/>
            <a:ext cx="15544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"/>
          <p:cNvSpPr/>
          <p:nvPr/>
        </p:nvSpPr>
        <p:spPr>
          <a:xfrm>
            <a:off x="3593592" y="184708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Bin — ciclos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7"/>
          <p:cNvSpPr/>
          <p:nvPr/>
        </p:nvSpPr>
        <p:spPr>
          <a:xfrm>
            <a:off x="5074920" y="1810512"/>
            <a:ext cx="15544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7"/>
          <p:cNvSpPr/>
          <p:nvPr/>
        </p:nvSpPr>
        <p:spPr>
          <a:xfrm>
            <a:off x="5148072" y="184708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Sort — comp.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7"/>
          <p:cNvSpPr/>
          <p:nvPr/>
        </p:nvSpPr>
        <p:spPr>
          <a:xfrm>
            <a:off x="6629400" y="1810512"/>
            <a:ext cx="219456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"/>
          <p:cNvSpPr/>
          <p:nvPr/>
        </p:nvSpPr>
        <p:spPr>
          <a:xfrm>
            <a:off x="6702552" y="1847088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7"/>
          <p:cNvSpPr/>
          <p:nvPr/>
        </p:nvSpPr>
        <p:spPr>
          <a:xfrm>
            <a:off x="320040" y="2249424"/>
            <a:ext cx="164592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"/>
          <p:cNvSpPr/>
          <p:nvPr/>
        </p:nvSpPr>
        <p:spPr>
          <a:xfrm>
            <a:off x="320040" y="2249424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"/>
          <p:cNvSpPr/>
          <p:nvPr/>
        </p:nvSpPr>
        <p:spPr>
          <a:xfrm>
            <a:off x="448056" y="2340864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(primeiro)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7"/>
          <p:cNvSpPr/>
          <p:nvPr/>
        </p:nvSpPr>
        <p:spPr>
          <a:xfrm>
            <a:off x="1965960" y="2249424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2039112" y="234086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"/>
          <p:cNvSpPr/>
          <p:nvPr/>
        </p:nvSpPr>
        <p:spPr>
          <a:xfrm>
            <a:off x="3520440" y="2249424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7"/>
          <p:cNvSpPr/>
          <p:nvPr/>
        </p:nvSpPr>
        <p:spPr>
          <a:xfrm>
            <a:off x="3593592" y="234086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7"/>
          <p:cNvSpPr/>
          <p:nvPr/>
        </p:nvSpPr>
        <p:spPr>
          <a:xfrm>
            <a:off x="5074920" y="2249424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"/>
          <p:cNvSpPr/>
          <p:nvPr/>
        </p:nvSpPr>
        <p:spPr>
          <a:xfrm>
            <a:off x="5148072" y="2340864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"/>
          <p:cNvSpPr/>
          <p:nvPr/>
        </p:nvSpPr>
        <p:spPr>
          <a:xfrm>
            <a:off x="6629400" y="2249424"/>
            <a:ext cx="21945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"/>
          <p:cNvSpPr/>
          <p:nvPr/>
        </p:nvSpPr>
        <p:spPr>
          <a:xfrm>
            <a:off x="6702552" y="2340864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Melhor caso seq. — igual na binária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7"/>
          <p:cNvSpPr/>
          <p:nvPr/>
        </p:nvSpPr>
        <p:spPr>
          <a:xfrm>
            <a:off x="320040" y="2834640"/>
            <a:ext cx="164592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"/>
          <p:cNvSpPr/>
          <p:nvPr/>
        </p:nvSpPr>
        <p:spPr>
          <a:xfrm>
            <a:off x="320040" y="2834640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"/>
          <p:cNvSpPr/>
          <p:nvPr/>
        </p:nvSpPr>
        <p:spPr>
          <a:xfrm>
            <a:off x="448056" y="292608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 (meio)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"/>
          <p:cNvSpPr/>
          <p:nvPr/>
        </p:nvSpPr>
        <p:spPr>
          <a:xfrm>
            <a:off x="1965960" y="2834640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"/>
          <p:cNvSpPr/>
          <p:nvPr/>
        </p:nvSpPr>
        <p:spPr>
          <a:xfrm>
            <a:off x="2039112" y="2926080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7"/>
          <p:cNvSpPr/>
          <p:nvPr/>
        </p:nvSpPr>
        <p:spPr>
          <a:xfrm>
            <a:off x="3520440" y="2834640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"/>
          <p:cNvSpPr/>
          <p:nvPr/>
        </p:nvSpPr>
        <p:spPr>
          <a:xfrm>
            <a:off x="3593592" y="2926080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7"/>
          <p:cNvSpPr/>
          <p:nvPr/>
        </p:nvSpPr>
        <p:spPr>
          <a:xfrm>
            <a:off x="5074920" y="2834640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"/>
          <p:cNvSpPr/>
          <p:nvPr/>
        </p:nvSpPr>
        <p:spPr>
          <a:xfrm>
            <a:off x="5148072" y="2926080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7"/>
          <p:cNvSpPr/>
          <p:nvPr/>
        </p:nvSpPr>
        <p:spPr>
          <a:xfrm>
            <a:off x="6629400" y="2834640"/>
            <a:ext cx="219456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7"/>
          <p:cNvSpPr/>
          <p:nvPr/>
        </p:nvSpPr>
        <p:spPr>
          <a:xfrm>
            <a:off x="6702552" y="2926080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Binária já economiza 2 ciclos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7"/>
          <p:cNvSpPr/>
          <p:nvPr/>
        </p:nvSpPr>
        <p:spPr>
          <a:xfrm>
            <a:off x="320040" y="3419856"/>
            <a:ext cx="164592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7"/>
          <p:cNvSpPr/>
          <p:nvPr/>
        </p:nvSpPr>
        <p:spPr>
          <a:xfrm>
            <a:off x="320040" y="3419856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"/>
          <p:cNvSpPr/>
          <p:nvPr/>
        </p:nvSpPr>
        <p:spPr>
          <a:xfrm>
            <a:off x="448056" y="3511296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88  (último)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7"/>
          <p:cNvSpPr/>
          <p:nvPr/>
        </p:nvSpPr>
        <p:spPr>
          <a:xfrm>
            <a:off x="1965960" y="3419856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"/>
          <p:cNvSpPr/>
          <p:nvPr/>
        </p:nvSpPr>
        <p:spPr>
          <a:xfrm>
            <a:off x="2039112" y="351129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7"/>
          <p:cNvSpPr/>
          <p:nvPr/>
        </p:nvSpPr>
        <p:spPr>
          <a:xfrm>
            <a:off x="3520440" y="3419856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7"/>
          <p:cNvSpPr/>
          <p:nvPr/>
        </p:nvSpPr>
        <p:spPr>
          <a:xfrm>
            <a:off x="3593592" y="351129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7"/>
          <p:cNvSpPr/>
          <p:nvPr/>
        </p:nvSpPr>
        <p:spPr>
          <a:xfrm>
            <a:off x="5074920" y="3419856"/>
            <a:ext cx="155448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7"/>
          <p:cNvSpPr/>
          <p:nvPr/>
        </p:nvSpPr>
        <p:spPr>
          <a:xfrm>
            <a:off x="5148072" y="3511296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7"/>
          <p:cNvSpPr/>
          <p:nvPr/>
        </p:nvSpPr>
        <p:spPr>
          <a:xfrm>
            <a:off x="6629400" y="3419856"/>
            <a:ext cx="2194560" cy="530352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"/>
          <p:cNvSpPr/>
          <p:nvPr/>
        </p:nvSpPr>
        <p:spPr>
          <a:xfrm>
            <a:off x="6702552" y="3511296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Pior caso seq. — binária ainda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7"/>
          <p:cNvSpPr/>
          <p:nvPr/>
        </p:nvSpPr>
        <p:spPr>
          <a:xfrm>
            <a:off x="320040" y="4005072"/>
            <a:ext cx="164592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320040" y="4005072"/>
            <a:ext cx="54864" cy="5303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"/>
          <p:cNvSpPr/>
          <p:nvPr/>
        </p:nvSpPr>
        <p:spPr>
          <a:xfrm>
            <a:off x="448056" y="4096512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 (ausente)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7"/>
          <p:cNvSpPr/>
          <p:nvPr/>
        </p:nvSpPr>
        <p:spPr>
          <a:xfrm>
            <a:off x="1965960" y="4005072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"/>
          <p:cNvSpPr/>
          <p:nvPr/>
        </p:nvSpPr>
        <p:spPr>
          <a:xfrm>
            <a:off x="2039112" y="4096512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7"/>
          <p:cNvSpPr/>
          <p:nvPr/>
        </p:nvSpPr>
        <p:spPr>
          <a:xfrm>
            <a:off x="3520440" y="4005072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7"/>
          <p:cNvSpPr/>
          <p:nvPr/>
        </p:nvSpPr>
        <p:spPr>
          <a:xfrm>
            <a:off x="3593592" y="4096512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7"/>
          <p:cNvSpPr/>
          <p:nvPr/>
        </p:nvSpPr>
        <p:spPr>
          <a:xfrm>
            <a:off x="5074920" y="4005072"/>
            <a:ext cx="155448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7"/>
          <p:cNvSpPr/>
          <p:nvPr/>
        </p:nvSpPr>
        <p:spPr>
          <a:xfrm>
            <a:off x="5148072" y="4096512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7"/>
          <p:cNvSpPr/>
          <p:nvPr/>
        </p:nvSpPr>
        <p:spPr>
          <a:xfrm>
            <a:off x="6629400" y="4005072"/>
            <a:ext cx="2194560" cy="530352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"/>
          <p:cNvSpPr/>
          <p:nvPr/>
        </p:nvSpPr>
        <p:spPr>
          <a:xfrm>
            <a:off x="6702552" y="4096512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Ambas percorrem tudo ou dividem até fim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7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7"/>
          <p:cNvSpPr/>
          <p:nvPr/>
        </p:nvSpPr>
        <p:spPr>
          <a:xfrm>
            <a:off x="457200" y="470916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Pergunta-chave: por que a busca sequencial e o selection sort têm comportamentos tão diferentes com n maior?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7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"/>
          <p:cNvSpPr/>
          <p:nvPr/>
        </p:nvSpPr>
        <p:spPr>
          <a:xfrm>
            <a:off x="320040" y="256032"/>
            <a:ext cx="1367942" cy="256032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"/>
          <p:cNvSpPr/>
          <p:nvPr/>
        </p:nvSpPr>
        <p:spPr>
          <a:xfrm>
            <a:off x="320040" y="274320"/>
            <a:ext cx="13679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NOTAÇÃO BIG-O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8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Notação Big-O — formalização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8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8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Uma linguagem para descrever o crescimento do custo — sem depender de hardware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8"/>
          <p:cNvSpPr/>
          <p:nvPr/>
        </p:nvSpPr>
        <p:spPr>
          <a:xfrm>
            <a:off x="320040" y="1810512"/>
            <a:ext cx="8503920" cy="84124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8"/>
          <p:cNvSpPr/>
          <p:nvPr/>
        </p:nvSpPr>
        <p:spPr>
          <a:xfrm>
            <a:off x="457200" y="188366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Big-O descreve quantas operações um algoritmo executa no pior caso,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8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função do tamanho da entrada n — ignorando constantes e termos menores.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8"/>
          <p:cNvSpPr/>
          <p:nvPr/>
        </p:nvSpPr>
        <p:spPr>
          <a:xfrm>
            <a:off x="320040" y="2798064"/>
            <a:ext cx="411480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8"/>
          <p:cNvSpPr/>
          <p:nvPr/>
        </p:nvSpPr>
        <p:spPr>
          <a:xfrm>
            <a:off x="320040" y="2798064"/>
            <a:ext cx="54864" cy="10058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8"/>
          <p:cNvSpPr/>
          <p:nvPr/>
        </p:nvSpPr>
        <p:spPr>
          <a:xfrm>
            <a:off x="448056" y="2889504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Não mede segundos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8"/>
          <p:cNvSpPr/>
          <p:nvPr/>
        </p:nvSpPr>
        <p:spPr>
          <a:xfrm>
            <a:off x="448056" y="318211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mesmo código roda em tempos diferentes em cada máquina. Big-O mede crescimento de passos — não tempo de relógio.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8"/>
          <p:cNvSpPr/>
          <p:nvPr/>
        </p:nvSpPr>
        <p:spPr>
          <a:xfrm>
            <a:off x="4754880" y="2798064"/>
            <a:ext cx="411480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8"/>
          <p:cNvSpPr/>
          <p:nvPr/>
        </p:nvSpPr>
        <p:spPr>
          <a:xfrm>
            <a:off x="4754880" y="2798064"/>
            <a:ext cx="54864" cy="1005840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8"/>
          <p:cNvSpPr/>
          <p:nvPr/>
        </p:nvSpPr>
        <p:spPr>
          <a:xfrm>
            <a:off x="4882896" y="2889504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Foca no pior caso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8"/>
          <p:cNvSpPr/>
          <p:nvPr/>
        </p:nvSpPr>
        <p:spPr>
          <a:xfrm>
            <a:off x="4882896" y="3182112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sequencial: melhor caso é O(1), mas Big-O = O(n). Planejamos para o pior — não para a sorte.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8"/>
          <p:cNvSpPr/>
          <p:nvPr/>
        </p:nvSpPr>
        <p:spPr>
          <a:xfrm>
            <a:off x="320040" y="3913632"/>
            <a:ext cx="411480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"/>
          <p:cNvSpPr/>
          <p:nvPr/>
        </p:nvSpPr>
        <p:spPr>
          <a:xfrm>
            <a:off x="320040" y="3913632"/>
            <a:ext cx="54864" cy="1005840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8"/>
          <p:cNvSpPr/>
          <p:nvPr/>
        </p:nvSpPr>
        <p:spPr>
          <a:xfrm>
            <a:off x="448056" y="4005072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Ignora constantes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8"/>
          <p:cNvSpPr/>
          <p:nvPr/>
        </p:nvSpPr>
        <p:spPr>
          <a:xfrm>
            <a:off x="448056" y="4297680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O(2n) e O(n) são a mesma classe. O(100) e O(1) também. O que importa é como cresce com 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"/>
          <p:cNvSpPr/>
          <p:nvPr/>
        </p:nvSpPr>
        <p:spPr>
          <a:xfrm>
            <a:off x="4754880" y="3913632"/>
            <a:ext cx="411480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8"/>
          <p:cNvSpPr/>
          <p:nvPr/>
        </p:nvSpPr>
        <p:spPr>
          <a:xfrm>
            <a:off x="4754880" y="3913632"/>
            <a:ext cx="54864" cy="1005840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8"/>
          <p:cNvSpPr/>
          <p:nvPr/>
        </p:nvSpPr>
        <p:spPr>
          <a:xfrm>
            <a:off x="4882896" y="4005072"/>
            <a:ext cx="38770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84FC"/>
                </a:solidFill>
                <a:latin typeface="Calibri"/>
                <a:ea typeface="Calibri"/>
                <a:cs typeface="Calibri"/>
                <a:sym typeface="Calibri"/>
              </a:rPr>
              <a:t>Você já usou Big-O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8"/>
          <p:cNvSpPr/>
          <p:nvPr/>
        </p:nvSpPr>
        <p:spPr>
          <a:xfrm>
            <a:off x="4882896" y="4297680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contou 45 comparações no Sort e 10 na sequencial: estava medindo Big-O na prática.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8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8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"/>
          <p:cNvSpPr/>
          <p:nvPr/>
        </p:nvSpPr>
        <p:spPr>
          <a:xfrm>
            <a:off x="320040" y="256032"/>
            <a:ext cx="2209190" cy="25603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9"/>
          <p:cNvSpPr/>
          <p:nvPr/>
        </p:nvSpPr>
        <p:spPr>
          <a:xfrm>
            <a:off x="320040" y="274320"/>
            <a:ext cx="22091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CLASSES DE COMPLEXIDADE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9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 principais classes — do mais rápido ao mais lento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p9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9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Bhargava: 'Os tempos de execução que você encontrará com mais frequência'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9"/>
          <p:cNvSpPr/>
          <p:nvPr/>
        </p:nvSpPr>
        <p:spPr>
          <a:xfrm>
            <a:off x="320040" y="1755648"/>
            <a:ext cx="8503920" cy="49377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9"/>
          <p:cNvSpPr/>
          <p:nvPr/>
        </p:nvSpPr>
        <p:spPr>
          <a:xfrm>
            <a:off x="320040" y="1755648"/>
            <a:ext cx="54864" cy="493776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"/>
          <p:cNvSpPr/>
          <p:nvPr/>
        </p:nvSpPr>
        <p:spPr>
          <a:xfrm>
            <a:off x="457200" y="182880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9"/>
          <p:cNvSpPr/>
          <p:nvPr/>
        </p:nvSpPr>
        <p:spPr>
          <a:xfrm>
            <a:off x="2240280" y="18470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9"/>
          <p:cNvSpPr/>
          <p:nvPr/>
        </p:nvSpPr>
        <p:spPr>
          <a:xfrm>
            <a:off x="4434840" y="184708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Acessar arr[i] diretamente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9"/>
          <p:cNvSpPr/>
          <p:nvPr/>
        </p:nvSpPr>
        <p:spPr>
          <a:xfrm>
            <a:off x="320040" y="2304288"/>
            <a:ext cx="8503920" cy="49377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9"/>
          <p:cNvSpPr/>
          <p:nvPr/>
        </p:nvSpPr>
        <p:spPr>
          <a:xfrm>
            <a:off x="320040" y="2304288"/>
            <a:ext cx="54864" cy="493776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9"/>
          <p:cNvSpPr/>
          <p:nvPr/>
        </p:nvSpPr>
        <p:spPr>
          <a:xfrm>
            <a:off x="457200" y="237744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O(log 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9"/>
          <p:cNvSpPr/>
          <p:nvPr/>
        </p:nvSpPr>
        <p:spPr>
          <a:xfrm>
            <a:off x="2240280" y="239572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Logarítmica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9"/>
          <p:cNvSpPr/>
          <p:nvPr/>
        </p:nvSpPr>
        <p:spPr>
          <a:xfrm>
            <a:off x="4434840" y="239572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Busca binária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9"/>
          <p:cNvSpPr/>
          <p:nvPr/>
        </p:nvSpPr>
        <p:spPr>
          <a:xfrm>
            <a:off x="320040" y="2852928"/>
            <a:ext cx="8503920" cy="49377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"/>
          <p:cNvSpPr/>
          <p:nvPr/>
        </p:nvSpPr>
        <p:spPr>
          <a:xfrm>
            <a:off x="320040" y="2852928"/>
            <a:ext cx="54864" cy="493776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9"/>
          <p:cNvSpPr/>
          <p:nvPr/>
        </p:nvSpPr>
        <p:spPr>
          <a:xfrm>
            <a:off x="457200" y="292608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9"/>
          <p:cNvSpPr/>
          <p:nvPr/>
        </p:nvSpPr>
        <p:spPr>
          <a:xfrm>
            <a:off x="2240280" y="294436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9"/>
          <p:cNvSpPr/>
          <p:nvPr/>
        </p:nvSpPr>
        <p:spPr>
          <a:xfrm>
            <a:off x="4434840" y="294436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Busca sequencial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9"/>
          <p:cNvSpPr/>
          <p:nvPr/>
        </p:nvSpPr>
        <p:spPr>
          <a:xfrm>
            <a:off x="320040" y="3401568"/>
            <a:ext cx="8503920" cy="49377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9"/>
          <p:cNvSpPr/>
          <p:nvPr/>
        </p:nvSpPr>
        <p:spPr>
          <a:xfrm>
            <a:off x="320040" y="3401568"/>
            <a:ext cx="54864" cy="49377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9"/>
          <p:cNvSpPr/>
          <p:nvPr/>
        </p:nvSpPr>
        <p:spPr>
          <a:xfrm>
            <a:off x="457200" y="347472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O(n log 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9"/>
          <p:cNvSpPr/>
          <p:nvPr/>
        </p:nvSpPr>
        <p:spPr>
          <a:xfrm>
            <a:off x="2240280" y="3493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Log-linear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9"/>
          <p:cNvSpPr/>
          <p:nvPr/>
        </p:nvSpPr>
        <p:spPr>
          <a:xfrm>
            <a:off x="4434840" y="349300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Quicksort, MergeSort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9"/>
          <p:cNvSpPr/>
          <p:nvPr/>
        </p:nvSpPr>
        <p:spPr>
          <a:xfrm>
            <a:off x="320040" y="3950208"/>
            <a:ext cx="8503920" cy="49377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9"/>
          <p:cNvSpPr/>
          <p:nvPr/>
        </p:nvSpPr>
        <p:spPr>
          <a:xfrm>
            <a:off x="320040" y="3950208"/>
            <a:ext cx="54864" cy="493776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9"/>
          <p:cNvSpPr/>
          <p:nvPr/>
        </p:nvSpPr>
        <p:spPr>
          <a:xfrm>
            <a:off x="457200" y="402336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9"/>
          <p:cNvSpPr/>
          <p:nvPr/>
        </p:nvSpPr>
        <p:spPr>
          <a:xfrm>
            <a:off x="2240280" y="40416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Quadrática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9"/>
          <p:cNvSpPr/>
          <p:nvPr/>
        </p:nvSpPr>
        <p:spPr>
          <a:xfrm>
            <a:off x="4434840" y="404164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Selection Sort, Bubble Sort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9"/>
          <p:cNvSpPr/>
          <p:nvPr/>
        </p:nvSpPr>
        <p:spPr>
          <a:xfrm>
            <a:off x="320040" y="4498848"/>
            <a:ext cx="8503920" cy="49377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9"/>
          <p:cNvSpPr/>
          <p:nvPr/>
        </p:nvSpPr>
        <p:spPr>
          <a:xfrm>
            <a:off x="320040" y="4498848"/>
            <a:ext cx="54864" cy="49377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9"/>
          <p:cNvSpPr/>
          <p:nvPr/>
        </p:nvSpPr>
        <p:spPr>
          <a:xfrm>
            <a:off x="457200" y="457200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O(n!)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9"/>
          <p:cNvSpPr/>
          <p:nvPr/>
        </p:nvSpPr>
        <p:spPr>
          <a:xfrm>
            <a:off x="2240280" y="459028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Fatorial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9"/>
          <p:cNvSpPr/>
          <p:nvPr/>
        </p:nvSpPr>
        <p:spPr>
          <a:xfrm>
            <a:off x="4434840" y="4590288"/>
            <a:ext cx="4251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Permutações, força bruta — evite!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9"/>
          <p:cNvSpPr/>
          <p:nvPr/>
        </p:nvSpPr>
        <p:spPr>
          <a:xfrm>
            <a:off x="320040" y="5065776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Do mais rápido ao mais lento: O(1) → O(log n) → O(n) → O(n log n) → O(n²) → O(n!)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9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9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"/>
          <p:cNvSpPr/>
          <p:nvPr/>
        </p:nvSpPr>
        <p:spPr>
          <a:xfrm>
            <a:off x="320040" y="256032"/>
            <a:ext cx="1956816" cy="256032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0"/>
          <p:cNvSpPr/>
          <p:nvPr/>
        </p:nvSpPr>
        <p:spPr>
          <a:xfrm>
            <a:off x="320040" y="274320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TAXAS DE CRESCIMENTO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mesmo n — custos radicalmente diferentes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10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8" name="Google Shape;658;p10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Bhargava: 'O tempo de execução dos algoritmos cresce a taxas diferentes'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320040" y="1755648"/>
            <a:ext cx="10972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0"/>
          <p:cNvSpPr/>
          <p:nvPr/>
        </p:nvSpPr>
        <p:spPr>
          <a:xfrm>
            <a:off x="393192" y="1792224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1417320" y="1755648"/>
            <a:ext cx="15544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0"/>
          <p:cNvSpPr/>
          <p:nvPr/>
        </p:nvSpPr>
        <p:spPr>
          <a:xfrm>
            <a:off x="1490472" y="179222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O(log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0"/>
          <p:cNvSpPr/>
          <p:nvPr/>
        </p:nvSpPr>
        <p:spPr>
          <a:xfrm>
            <a:off x="2971800" y="1755648"/>
            <a:ext cx="155448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0"/>
          <p:cNvSpPr/>
          <p:nvPr/>
        </p:nvSpPr>
        <p:spPr>
          <a:xfrm>
            <a:off x="3044952" y="179222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0"/>
          <p:cNvSpPr/>
          <p:nvPr/>
        </p:nvSpPr>
        <p:spPr>
          <a:xfrm>
            <a:off x="4526280" y="1755648"/>
            <a:ext cx="164592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0"/>
          <p:cNvSpPr/>
          <p:nvPr/>
        </p:nvSpPr>
        <p:spPr>
          <a:xfrm>
            <a:off x="4599432" y="179222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0"/>
          <p:cNvSpPr/>
          <p:nvPr/>
        </p:nvSpPr>
        <p:spPr>
          <a:xfrm>
            <a:off x="6172200" y="1755648"/>
            <a:ext cx="173736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0"/>
          <p:cNvSpPr/>
          <p:nvPr/>
        </p:nvSpPr>
        <p:spPr>
          <a:xfrm>
            <a:off x="6245352" y="179222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0"/>
          <p:cNvSpPr/>
          <p:nvPr/>
        </p:nvSpPr>
        <p:spPr>
          <a:xfrm>
            <a:off x="7909560" y="1755648"/>
            <a:ext cx="1737360" cy="365760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0"/>
          <p:cNvSpPr/>
          <p:nvPr/>
        </p:nvSpPr>
        <p:spPr>
          <a:xfrm>
            <a:off x="7982712" y="179222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O(n!)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0"/>
          <p:cNvSpPr/>
          <p:nvPr/>
        </p:nvSpPr>
        <p:spPr>
          <a:xfrm>
            <a:off x="320040" y="2194560"/>
            <a:ext cx="10972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0"/>
          <p:cNvSpPr/>
          <p:nvPr/>
        </p:nvSpPr>
        <p:spPr>
          <a:xfrm>
            <a:off x="320040" y="2194560"/>
            <a:ext cx="54864" cy="585216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0"/>
          <p:cNvSpPr/>
          <p:nvPr/>
        </p:nvSpPr>
        <p:spPr>
          <a:xfrm>
            <a:off x="448056" y="230428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0"/>
          <p:cNvSpPr/>
          <p:nvPr/>
        </p:nvSpPr>
        <p:spPr>
          <a:xfrm>
            <a:off x="1417320" y="2194560"/>
            <a:ext cx="15544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0"/>
          <p:cNvSpPr/>
          <p:nvPr/>
        </p:nvSpPr>
        <p:spPr>
          <a:xfrm>
            <a:off x="1490472" y="230428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0"/>
          <p:cNvSpPr/>
          <p:nvPr/>
        </p:nvSpPr>
        <p:spPr>
          <a:xfrm>
            <a:off x="2971800" y="2194560"/>
            <a:ext cx="15544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0"/>
          <p:cNvSpPr/>
          <p:nvPr/>
        </p:nvSpPr>
        <p:spPr>
          <a:xfrm>
            <a:off x="3044952" y="230428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0"/>
          <p:cNvSpPr/>
          <p:nvPr/>
        </p:nvSpPr>
        <p:spPr>
          <a:xfrm>
            <a:off x="4526280" y="2194560"/>
            <a:ext cx="164592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0"/>
          <p:cNvSpPr/>
          <p:nvPr/>
        </p:nvSpPr>
        <p:spPr>
          <a:xfrm>
            <a:off x="4599432" y="230428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0"/>
          <p:cNvSpPr/>
          <p:nvPr/>
        </p:nvSpPr>
        <p:spPr>
          <a:xfrm>
            <a:off x="6172200" y="2194560"/>
            <a:ext cx="173736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0"/>
          <p:cNvSpPr/>
          <p:nvPr/>
        </p:nvSpPr>
        <p:spPr>
          <a:xfrm>
            <a:off x="6245352" y="230428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0"/>
          <p:cNvSpPr/>
          <p:nvPr/>
        </p:nvSpPr>
        <p:spPr>
          <a:xfrm>
            <a:off x="7909560" y="2194560"/>
            <a:ext cx="173736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0"/>
          <p:cNvSpPr/>
          <p:nvPr/>
        </p:nvSpPr>
        <p:spPr>
          <a:xfrm>
            <a:off x="7982712" y="230428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3.628.800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0"/>
          <p:cNvSpPr/>
          <p:nvPr/>
        </p:nvSpPr>
        <p:spPr>
          <a:xfrm>
            <a:off x="320040" y="2834640"/>
            <a:ext cx="10972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0"/>
          <p:cNvSpPr/>
          <p:nvPr/>
        </p:nvSpPr>
        <p:spPr>
          <a:xfrm>
            <a:off x="320040" y="2834640"/>
            <a:ext cx="54864" cy="585216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0"/>
          <p:cNvSpPr/>
          <p:nvPr/>
        </p:nvSpPr>
        <p:spPr>
          <a:xfrm>
            <a:off x="448056" y="294436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0"/>
          <p:cNvSpPr/>
          <p:nvPr/>
        </p:nvSpPr>
        <p:spPr>
          <a:xfrm>
            <a:off x="1417320" y="2834640"/>
            <a:ext cx="15544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0"/>
          <p:cNvSpPr/>
          <p:nvPr/>
        </p:nvSpPr>
        <p:spPr>
          <a:xfrm>
            <a:off x="1490472" y="294436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0"/>
          <p:cNvSpPr/>
          <p:nvPr/>
        </p:nvSpPr>
        <p:spPr>
          <a:xfrm>
            <a:off x="2971800" y="2834640"/>
            <a:ext cx="15544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0"/>
          <p:cNvSpPr/>
          <p:nvPr/>
        </p:nvSpPr>
        <p:spPr>
          <a:xfrm>
            <a:off x="3044952" y="294436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0"/>
          <p:cNvSpPr/>
          <p:nvPr/>
        </p:nvSpPr>
        <p:spPr>
          <a:xfrm>
            <a:off x="4526280" y="2834640"/>
            <a:ext cx="164592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0"/>
          <p:cNvSpPr/>
          <p:nvPr/>
        </p:nvSpPr>
        <p:spPr>
          <a:xfrm>
            <a:off x="4599432" y="294436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664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0"/>
          <p:cNvSpPr/>
          <p:nvPr/>
        </p:nvSpPr>
        <p:spPr>
          <a:xfrm>
            <a:off x="6172200" y="2834640"/>
            <a:ext cx="173736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0"/>
          <p:cNvSpPr/>
          <p:nvPr/>
        </p:nvSpPr>
        <p:spPr>
          <a:xfrm>
            <a:off x="6245352" y="294436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0"/>
          <p:cNvSpPr/>
          <p:nvPr/>
        </p:nvSpPr>
        <p:spPr>
          <a:xfrm>
            <a:off x="7909560" y="2834640"/>
            <a:ext cx="173736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0"/>
          <p:cNvSpPr/>
          <p:nvPr/>
        </p:nvSpPr>
        <p:spPr>
          <a:xfrm>
            <a:off x="7982712" y="294436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impossível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0"/>
          <p:cNvSpPr/>
          <p:nvPr/>
        </p:nvSpPr>
        <p:spPr>
          <a:xfrm>
            <a:off x="320040" y="3474720"/>
            <a:ext cx="10972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0"/>
          <p:cNvSpPr/>
          <p:nvPr/>
        </p:nvSpPr>
        <p:spPr>
          <a:xfrm>
            <a:off x="320040" y="3474720"/>
            <a:ext cx="54864" cy="585216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448056" y="358444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/>
          <p:nvPr/>
        </p:nvSpPr>
        <p:spPr>
          <a:xfrm>
            <a:off x="1417320" y="3474720"/>
            <a:ext cx="15544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0"/>
          <p:cNvSpPr/>
          <p:nvPr/>
        </p:nvSpPr>
        <p:spPr>
          <a:xfrm>
            <a:off x="1490472" y="358444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0"/>
          <p:cNvSpPr/>
          <p:nvPr/>
        </p:nvSpPr>
        <p:spPr>
          <a:xfrm>
            <a:off x="2971800" y="3474720"/>
            <a:ext cx="155448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0"/>
          <p:cNvSpPr/>
          <p:nvPr/>
        </p:nvSpPr>
        <p:spPr>
          <a:xfrm>
            <a:off x="3044952" y="358444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0"/>
          <p:cNvSpPr/>
          <p:nvPr/>
        </p:nvSpPr>
        <p:spPr>
          <a:xfrm>
            <a:off x="4526280" y="3474720"/>
            <a:ext cx="164592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0"/>
          <p:cNvSpPr/>
          <p:nvPr/>
        </p:nvSpPr>
        <p:spPr>
          <a:xfrm>
            <a:off x="4599432" y="358444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9.966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0"/>
          <p:cNvSpPr/>
          <p:nvPr/>
        </p:nvSpPr>
        <p:spPr>
          <a:xfrm>
            <a:off x="6172200" y="3474720"/>
            <a:ext cx="173736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0"/>
          <p:cNvSpPr/>
          <p:nvPr/>
        </p:nvSpPr>
        <p:spPr>
          <a:xfrm>
            <a:off x="6245352" y="3584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1.000.000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0"/>
          <p:cNvSpPr/>
          <p:nvPr/>
        </p:nvSpPr>
        <p:spPr>
          <a:xfrm>
            <a:off x="7909560" y="3474720"/>
            <a:ext cx="1737360" cy="585216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"/>
          <p:cNvSpPr/>
          <p:nvPr/>
        </p:nvSpPr>
        <p:spPr>
          <a:xfrm>
            <a:off x="7982712" y="358444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impossível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0"/>
          <p:cNvSpPr/>
          <p:nvPr/>
        </p:nvSpPr>
        <p:spPr>
          <a:xfrm>
            <a:off x="320040" y="4114800"/>
            <a:ext cx="10972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0"/>
          <p:cNvSpPr/>
          <p:nvPr/>
        </p:nvSpPr>
        <p:spPr>
          <a:xfrm>
            <a:off x="320040" y="4114800"/>
            <a:ext cx="54864" cy="585216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0"/>
          <p:cNvSpPr/>
          <p:nvPr/>
        </p:nvSpPr>
        <p:spPr>
          <a:xfrm>
            <a:off x="448056" y="4224528"/>
            <a:ext cx="9326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0"/>
          <p:cNvSpPr/>
          <p:nvPr/>
        </p:nvSpPr>
        <p:spPr>
          <a:xfrm>
            <a:off x="1417320" y="4114800"/>
            <a:ext cx="15544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0"/>
          <p:cNvSpPr/>
          <p:nvPr/>
        </p:nvSpPr>
        <p:spPr>
          <a:xfrm>
            <a:off x="1490472" y="422452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0"/>
          <p:cNvSpPr/>
          <p:nvPr/>
        </p:nvSpPr>
        <p:spPr>
          <a:xfrm>
            <a:off x="2971800" y="4114800"/>
            <a:ext cx="155448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0"/>
          <p:cNvSpPr/>
          <p:nvPr/>
        </p:nvSpPr>
        <p:spPr>
          <a:xfrm>
            <a:off x="3044952" y="422452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10.000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0"/>
          <p:cNvSpPr/>
          <p:nvPr/>
        </p:nvSpPr>
        <p:spPr>
          <a:xfrm>
            <a:off x="4526280" y="4114800"/>
            <a:ext cx="164592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0"/>
          <p:cNvSpPr/>
          <p:nvPr/>
        </p:nvSpPr>
        <p:spPr>
          <a:xfrm>
            <a:off x="4599432" y="4224528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132.877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"/>
          <p:cNvSpPr/>
          <p:nvPr/>
        </p:nvSpPr>
        <p:spPr>
          <a:xfrm>
            <a:off x="6172200" y="4114800"/>
            <a:ext cx="173736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0"/>
          <p:cNvSpPr/>
          <p:nvPr/>
        </p:nvSpPr>
        <p:spPr>
          <a:xfrm>
            <a:off x="6245352" y="422452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100.000.000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0"/>
          <p:cNvSpPr/>
          <p:nvPr/>
        </p:nvSpPr>
        <p:spPr>
          <a:xfrm>
            <a:off x="7909560" y="4114800"/>
            <a:ext cx="1737360" cy="585216"/>
          </a:xfrm>
          <a:prstGeom prst="rect">
            <a:avLst/>
          </a:prstGeom>
          <a:solidFill>
            <a:srgbClr val="13141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0"/>
          <p:cNvSpPr/>
          <p:nvPr/>
        </p:nvSpPr>
        <p:spPr>
          <a:xfrm>
            <a:off x="7982712" y="4224528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impossível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0"/>
          <p:cNvSpPr/>
          <p:nvPr/>
        </p:nvSpPr>
        <p:spPr>
          <a:xfrm>
            <a:off x="457200" y="4782312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Seu Selection Sort com n=10: 45 comparações ✓  n=100: 4.950  n=1.000: 499.500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0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10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"/>
          <p:cNvSpPr/>
          <p:nvPr/>
        </p:nvSpPr>
        <p:spPr>
          <a:xfrm>
            <a:off x="320040" y="256032"/>
            <a:ext cx="1620317" cy="25603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1"/>
          <p:cNvSpPr/>
          <p:nvPr/>
        </p:nvSpPr>
        <p:spPr>
          <a:xfrm>
            <a:off x="320040" y="274320"/>
            <a:ext cx="162031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ANÁLISE DE CASOS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1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Pior caso, médio e melhor caso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4" name="Google Shape;734;p11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11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Bhargava: 'Big-O estabelece o tempo de execução para a pior hipótese'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1"/>
          <p:cNvSpPr/>
          <p:nvPr/>
        </p:nvSpPr>
        <p:spPr>
          <a:xfrm>
            <a:off x="320040" y="1755648"/>
            <a:ext cx="8503920" cy="694944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1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 com a busca sequencial no array de 10 posições: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1"/>
          <p:cNvSpPr/>
          <p:nvPr/>
        </p:nvSpPr>
        <p:spPr>
          <a:xfrm>
            <a:off x="457200" y="2103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Melhor caso: arr[0] = 3, valor = 3  →  1 ciclo  |  Pior caso: valor = 88 ou ausente  →  10 ciclos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1"/>
          <p:cNvSpPr/>
          <p:nvPr/>
        </p:nvSpPr>
        <p:spPr>
          <a:xfrm>
            <a:off x="320040" y="2633472"/>
            <a:ext cx="2743200" cy="230428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1"/>
          <p:cNvSpPr/>
          <p:nvPr/>
        </p:nvSpPr>
        <p:spPr>
          <a:xfrm>
            <a:off x="320040" y="2633472"/>
            <a:ext cx="2743200" cy="54864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1"/>
          <p:cNvSpPr/>
          <p:nvPr/>
        </p:nvSpPr>
        <p:spPr>
          <a:xfrm>
            <a:off x="429768" y="272491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Melhor caso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1"/>
          <p:cNvSpPr/>
          <p:nvPr/>
        </p:nvSpPr>
        <p:spPr>
          <a:xfrm>
            <a:off x="429768" y="307238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O(1) ciclo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1"/>
          <p:cNvSpPr/>
          <p:nvPr/>
        </p:nvSpPr>
        <p:spPr>
          <a:xfrm>
            <a:off x="429768" y="3529584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elemento está na primeira posição. Ocorre — mas não é garantia.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1"/>
          <p:cNvSpPr/>
          <p:nvPr/>
        </p:nvSpPr>
        <p:spPr>
          <a:xfrm>
            <a:off x="429768" y="407822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Ignoramos na análise Big-O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1"/>
          <p:cNvSpPr/>
          <p:nvPr/>
        </p:nvSpPr>
        <p:spPr>
          <a:xfrm>
            <a:off x="3227832" y="2633472"/>
            <a:ext cx="2743200" cy="230428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1"/>
          <p:cNvSpPr/>
          <p:nvPr/>
        </p:nvSpPr>
        <p:spPr>
          <a:xfrm>
            <a:off x="3227832" y="2633472"/>
            <a:ext cx="2743200" cy="54864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1"/>
          <p:cNvSpPr/>
          <p:nvPr/>
        </p:nvSpPr>
        <p:spPr>
          <a:xfrm>
            <a:off x="3337560" y="272491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Caso médio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1"/>
          <p:cNvSpPr/>
          <p:nvPr/>
        </p:nvSpPr>
        <p:spPr>
          <a:xfrm>
            <a:off x="3337560" y="307238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O(n/2) ciclos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1"/>
          <p:cNvSpPr/>
          <p:nvPr/>
        </p:nvSpPr>
        <p:spPr>
          <a:xfrm>
            <a:off x="3337560" y="3529584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média, o elemento está no meio da lista.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1"/>
          <p:cNvSpPr/>
          <p:nvPr/>
        </p:nvSpPr>
        <p:spPr>
          <a:xfrm>
            <a:off x="3337560" y="407822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Útil em análises específicas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1"/>
          <p:cNvSpPr/>
          <p:nvPr/>
        </p:nvSpPr>
        <p:spPr>
          <a:xfrm>
            <a:off x="6135624" y="2633472"/>
            <a:ext cx="2743200" cy="230428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1"/>
          <p:cNvSpPr/>
          <p:nvPr/>
        </p:nvSpPr>
        <p:spPr>
          <a:xfrm>
            <a:off x="6135624" y="2633472"/>
            <a:ext cx="2743200" cy="5486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1"/>
          <p:cNvSpPr/>
          <p:nvPr/>
        </p:nvSpPr>
        <p:spPr>
          <a:xfrm>
            <a:off x="6245352" y="2724912"/>
            <a:ext cx="2523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Pior caso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1"/>
          <p:cNvSpPr/>
          <p:nvPr/>
        </p:nvSpPr>
        <p:spPr>
          <a:xfrm>
            <a:off x="6245352" y="3072384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O(n) ciclos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1"/>
          <p:cNvSpPr/>
          <p:nvPr/>
        </p:nvSpPr>
        <p:spPr>
          <a:xfrm>
            <a:off x="6245352" y="3529584"/>
            <a:ext cx="2523744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Elemento no fim ou ausente — varredura completa.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1"/>
          <p:cNvSpPr/>
          <p:nvPr/>
        </p:nvSpPr>
        <p:spPr>
          <a:xfrm>
            <a:off x="6245352" y="4078224"/>
            <a:ext cx="2523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É o que Big-O representa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1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11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"/>
          <p:cNvSpPr/>
          <p:nvPr/>
        </p:nvSpPr>
        <p:spPr>
          <a:xfrm>
            <a:off x="320040" y="256032"/>
            <a:ext cx="1367942" cy="25603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2"/>
          <p:cNvSpPr/>
          <p:nvPr/>
        </p:nvSpPr>
        <p:spPr>
          <a:xfrm>
            <a:off x="320040" y="274320"/>
            <a:ext cx="136794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COMO CALCULAR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2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calcular o Big-O — lendo o código C++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6" name="Google Shape;766;p12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7" name="Google Shape;767;p12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Cada nível de loop multiplica a complexidade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2"/>
          <p:cNvSpPr/>
          <p:nvPr/>
        </p:nvSpPr>
        <p:spPr>
          <a:xfrm>
            <a:off x="320040" y="1755648"/>
            <a:ext cx="4892040" cy="3145536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2"/>
          <p:cNvSpPr/>
          <p:nvPr/>
        </p:nvSpPr>
        <p:spPr>
          <a:xfrm>
            <a:off x="448056" y="184708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1  // O(1) — sem loop, custo fixo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2"/>
          <p:cNvSpPr/>
          <p:nvPr/>
        </p:nvSpPr>
        <p:spPr>
          <a:xfrm>
            <a:off x="448056" y="212140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  int x = arr[0];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2"/>
          <p:cNvSpPr/>
          <p:nvPr/>
        </p:nvSpPr>
        <p:spPr>
          <a:xfrm>
            <a:off x="448056" y="239572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2"/>
          <p:cNvSpPr/>
          <p:nvPr/>
        </p:nvSpPr>
        <p:spPr>
          <a:xfrm>
            <a:off x="448056" y="267004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4  // O(n) — um loop percorre todos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2"/>
          <p:cNvSpPr/>
          <p:nvPr/>
        </p:nvSpPr>
        <p:spPr>
          <a:xfrm>
            <a:off x="448056" y="294436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5  for (int i = 0; i &lt; n; i++)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2"/>
          <p:cNvSpPr/>
          <p:nvPr/>
        </p:nvSpPr>
        <p:spPr>
          <a:xfrm>
            <a:off x="448056" y="321868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6      cout &lt;&lt; arr[i];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448056" y="349300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2"/>
          <p:cNvSpPr/>
          <p:nvPr/>
        </p:nvSpPr>
        <p:spPr>
          <a:xfrm>
            <a:off x="448056" y="376732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8  // O(n²) — loop dentro de loop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2"/>
          <p:cNvSpPr/>
          <p:nvPr/>
        </p:nvSpPr>
        <p:spPr>
          <a:xfrm>
            <a:off x="448056" y="404164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9  for (int i = 0; i &lt; n; i++)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2"/>
          <p:cNvSpPr/>
          <p:nvPr/>
        </p:nvSpPr>
        <p:spPr>
          <a:xfrm>
            <a:off x="448056" y="431596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for (int j = 0; j &lt; n; j++)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2"/>
          <p:cNvSpPr/>
          <p:nvPr/>
        </p:nvSpPr>
        <p:spPr>
          <a:xfrm>
            <a:off x="448056" y="4590288"/>
            <a:ext cx="4690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11          // n × n = n² operações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2"/>
          <p:cNvSpPr/>
          <p:nvPr/>
        </p:nvSpPr>
        <p:spPr>
          <a:xfrm>
            <a:off x="5394960" y="1755648"/>
            <a:ext cx="3429000" cy="896112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2"/>
          <p:cNvSpPr/>
          <p:nvPr/>
        </p:nvSpPr>
        <p:spPr>
          <a:xfrm>
            <a:off x="5394960" y="1755648"/>
            <a:ext cx="54864" cy="89611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2"/>
          <p:cNvSpPr/>
          <p:nvPr/>
        </p:nvSpPr>
        <p:spPr>
          <a:xfrm>
            <a:off x="5522976" y="1847088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O(1) — Constante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2"/>
          <p:cNvSpPr/>
          <p:nvPr/>
        </p:nvSpPr>
        <p:spPr>
          <a:xfrm>
            <a:off x="5522976" y="2139696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2"/>
          <p:cNvSpPr/>
          <p:nvPr/>
        </p:nvSpPr>
        <p:spPr>
          <a:xfrm>
            <a:off x="5522976" y="2395728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 de 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2"/>
          <p:cNvSpPr/>
          <p:nvPr/>
        </p:nvSpPr>
        <p:spPr>
          <a:xfrm>
            <a:off x="5394960" y="2743200"/>
            <a:ext cx="3429000" cy="896112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2"/>
          <p:cNvSpPr/>
          <p:nvPr/>
        </p:nvSpPr>
        <p:spPr>
          <a:xfrm>
            <a:off x="5394960" y="2743200"/>
            <a:ext cx="54864" cy="896112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2"/>
          <p:cNvSpPr/>
          <p:nvPr/>
        </p:nvSpPr>
        <p:spPr>
          <a:xfrm>
            <a:off x="5522976" y="2834640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O(n) — Linear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2"/>
          <p:cNvSpPr/>
          <p:nvPr/>
        </p:nvSpPr>
        <p:spPr>
          <a:xfrm>
            <a:off x="5522976" y="3127248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loop simples.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2"/>
          <p:cNvSpPr/>
          <p:nvPr/>
        </p:nvSpPr>
        <p:spPr>
          <a:xfrm>
            <a:off x="5522976" y="3383280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Dobra n → dobra o tempo.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2"/>
          <p:cNvSpPr/>
          <p:nvPr/>
        </p:nvSpPr>
        <p:spPr>
          <a:xfrm>
            <a:off x="5394960" y="3730752"/>
            <a:ext cx="3429000" cy="896112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2"/>
          <p:cNvSpPr/>
          <p:nvPr/>
        </p:nvSpPr>
        <p:spPr>
          <a:xfrm>
            <a:off x="5394960" y="3730752"/>
            <a:ext cx="54864" cy="89611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2"/>
          <p:cNvSpPr/>
          <p:nvPr/>
        </p:nvSpPr>
        <p:spPr>
          <a:xfrm>
            <a:off x="5522976" y="3822192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O(n²) — Quadrática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2"/>
          <p:cNvSpPr/>
          <p:nvPr/>
        </p:nvSpPr>
        <p:spPr>
          <a:xfrm>
            <a:off x="5522976" y="4114800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 dentro de loop.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2"/>
          <p:cNvSpPr/>
          <p:nvPr/>
        </p:nvSpPr>
        <p:spPr>
          <a:xfrm>
            <a:off x="5522976" y="4370832"/>
            <a:ext cx="3227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Dobra n → 4× o tempo.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2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12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3"/>
          <p:cNvSpPr/>
          <p:nvPr/>
        </p:nvSpPr>
        <p:spPr>
          <a:xfrm>
            <a:off x="320040" y="256032"/>
            <a:ext cx="1097280" cy="25603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3"/>
          <p:cNvSpPr/>
          <p:nvPr/>
        </p:nvSpPr>
        <p:spPr>
          <a:xfrm>
            <a:off x="32004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REGRAS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Regras de simplificação do Big-O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4" name="Google Shape;804;p13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5" name="Google Shape;805;p13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Quatro regras que você usará em toda análise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3"/>
          <p:cNvSpPr/>
          <p:nvPr/>
        </p:nvSpPr>
        <p:spPr>
          <a:xfrm>
            <a:off x="320040" y="1755648"/>
            <a:ext cx="8503920" cy="74980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3"/>
          <p:cNvSpPr/>
          <p:nvPr/>
        </p:nvSpPr>
        <p:spPr>
          <a:xfrm>
            <a:off x="457200" y="186537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Elimine constantes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3154680" y="18470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O(3n)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3"/>
          <p:cNvSpPr/>
          <p:nvPr/>
        </p:nvSpPr>
        <p:spPr>
          <a:xfrm>
            <a:off x="4663440" y="186537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3"/>
          <p:cNvSpPr/>
          <p:nvPr/>
        </p:nvSpPr>
        <p:spPr>
          <a:xfrm>
            <a:off x="5074920" y="18470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3"/>
          <p:cNvSpPr/>
          <p:nvPr/>
        </p:nvSpPr>
        <p:spPr>
          <a:xfrm>
            <a:off x="6629400" y="1865376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Constantes multiplicativas desaparecem.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"/>
          <p:cNvSpPr/>
          <p:nvPr/>
        </p:nvSpPr>
        <p:spPr>
          <a:xfrm>
            <a:off x="320040" y="2578608"/>
            <a:ext cx="8503920" cy="749808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3"/>
          <p:cNvSpPr/>
          <p:nvPr/>
        </p:nvSpPr>
        <p:spPr>
          <a:xfrm>
            <a:off x="457200" y="26883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Elimine termos menores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3"/>
          <p:cNvSpPr/>
          <p:nvPr/>
        </p:nvSpPr>
        <p:spPr>
          <a:xfrm>
            <a:off x="3154680" y="267004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O(n² + 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3"/>
          <p:cNvSpPr/>
          <p:nvPr/>
        </p:nvSpPr>
        <p:spPr>
          <a:xfrm>
            <a:off x="4663440" y="268833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3"/>
          <p:cNvSpPr/>
          <p:nvPr/>
        </p:nvSpPr>
        <p:spPr>
          <a:xfrm>
            <a:off x="5074920" y="267004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3"/>
          <p:cNvSpPr/>
          <p:nvPr/>
        </p:nvSpPr>
        <p:spPr>
          <a:xfrm>
            <a:off x="6629400" y="2688336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Quando n cresce, n² domina completamente.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320040" y="3401568"/>
            <a:ext cx="8503920" cy="749808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3"/>
          <p:cNvSpPr/>
          <p:nvPr/>
        </p:nvSpPr>
        <p:spPr>
          <a:xfrm>
            <a:off x="457200" y="351129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Blocos sequenciais → some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3"/>
          <p:cNvSpPr/>
          <p:nvPr/>
        </p:nvSpPr>
        <p:spPr>
          <a:xfrm>
            <a:off x="3154680" y="34930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 + 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3"/>
          <p:cNvSpPr/>
          <p:nvPr/>
        </p:nvSpPr>
        <p:spPr>
          <a:xfrm>
            <a:off x="4663440" y="351129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3"/>
          <p:cNvSpPr/>
          <p:nvPr/>
        </p:nvSpPr>
        <p:spPr>
          <a:xfrm>
            <a:off x="5074920" y="34930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3"/>
          <p:cNvSpPr/>
          <p:nvPr/>
        </p:nvSpPr>
        <p:spPr>
          <a:xfrm>
            <a:off x="6629400" y="3511296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Dois loops seguidos = O(2n) = O(n).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3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3"/>
          <p:cNvSpPr/>
          <p:nvPr/>
        </p:nvSpPr>
        <p:spPr>
          <a:xfrm>
            <a:off x="457200" y="433425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Loops aninhados → multiplique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3"/>
          <p:cNvSpPr/>
          <p:nvPr/>
        </p:nvSpPr>
        <p:spPr>
          <a:xfrm>
            <a:off x="3154680" y="4315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 × O(n)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3"/>
          <p:cNvSpPr/>
          <p:nvPr/>
        </p:nvSpPr>
        <p:spPr>
          <a:xfrm>
            <a:off x="4663440" y="4334256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3"/>
          <p:cNvSpPr/>
          <p:nvPr/>
        </p:nvSpPr>
        <p:spPr>
          <a:xfrm>
            <a:off x="5074920" y="4315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3"/>
          <p:cNvSpPr/>
          <p:nvPr/>
        </p:nvSpPr>
        <p:spPr>
          <a:xfrm>
            <a:off x="6629400" y="4334256"/>
            <a:ext cx="2103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Cada iteração externa dispara n do interno.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3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13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4"/>
          <p:cNvSpPr/>
          <p:nvPr/>
        </p:nvSpPr>
        <p:spPr>
          <a:xfrm>
            <a:off x="320040" y="25603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4"/>
          <p:cNvSpPr/>
          <p:nvPr/>
        </p:nvSpPr>
        <p:spPr>
          <a:xfrm>
            <a:off x="320040" y="640080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Armadilhas clássicas — reconheça e evite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4"/>
          <p:cNvSpPr/>
          <p:nvPr/>
        </p:nvSpPr>
        <p:spPr>
          <a:xfrm>
            <a:off x="320040" y="1389888"/>
            <a:ext cx="8503920" cy="786384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4"/>
          <p:cNvSpPr/>
          <p:nvPr/>
        </p:nvSpPr>
        <p:spPr>
          <a:xfrm>
            <a:off x="457200" y="148132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 + n) = O(2n)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4"/>
          <p:cNvSpPr/>
          <p:nvPr/>
        </p:nvSpPr>
        <p:spPr>
          <a:xfrm>
            <a:off x="3703320" y="149961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4"/>
          <p:cNvSpPr/>
          <p:nvPr/>
        </p:nvSpPr>
        <p:spPr>
          <a:xfrm>
            <a:off x="4160520" y="148132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4"/>
          <p:cNvSpPr/>
          <p:nvPr/>
        </p:nvSpPr>
        <p:spPr>
          <a:xfrm>
            <a:off x="5715000" y="151790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Constante eliminada. 2n cresce exatamente como 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4"/>
          <p:cNvSpPr/>
          <p:nvPr/>
        </p:nvSpPr>
        <p:spPr>
          <a:xfrm>
            <a:off x="320040" y="2267712"/>
            <a:ext cx="8503920" cy="786384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4"/>
          <p:cNvSpPr/>
          <p:nvPr/>
        </p:nvSpPr>
        <p:spPr>
          <a:xfrm>
            <a:off x="457200" y="235915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O(n) × O(1) = O(n¹)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4"/>
          <p:cNvSpPr/>
          <p:nvPr/>
        </p:nvSpPr>
        <p:spPr>
          <a:xfrm>
            <a:off x="3703320" y="237744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4"/>
          <p:cNvSpPr/>
          <p:nvPr/>
        </p:nvSpPr>
        <p:spPr>
          <a:xfrm>
            <a:off x="4160520" y="23591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4"/>
          <p:cNvSpPr/>
          <p:nvPr/>
        </p:nvSpPr>
        <p:spPr>
          <a:xfrm>
            <a:off x="5715000" y="239572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Multiplicar por constante não muda a classe.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4"/>
          <p:cNvSpPr/>
          <p:nvPr/>
        </p:nvSpPr>
        <p:spPr>
          <a:xfrm>
            <a:off x="320040" y="3145536"/>
            <a:ext cx="8503920" cy="786384"/>
          </a:xfrm>
          <a:prstGeom prst="rect">
            <a:avLst/>
          </a:prstGeom>
          <a:solidFill>
            <a:srgbClr val="3A3D4E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4"/>
          <p:cNvSpPr/>
          <p:nvPr/>
        </p:nvSpPr>
        <p:spPr>
          <a:xfrm>
            <a:off x="457200" y="323697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Loop de 0 a log n → O(n)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4"/>
          <p:cNvSpPr/>
          <p:nvPr/>
        </p:nvSpPr>
        <p:spPr>
          <a:xfrm>
            <a:off x="3703320" y="3255264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4"/>
          <p:cNvSpPr/>
          <p:nvPr/>
        </p:nvSpPr>
        <p:spPr>
          <a:xfrm>
            <a:off x="4160520" y="3236976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O(log 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4"/>
          <p:cNvSpPr/>
          <p:nvPr/>
        </p:nvSpPr>
        <p:spPr>
          <a:xfrm>
            <a:off x="5715000" y="327355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Contar as iterações do loop, não o valor de log 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4"/>
          <p:cNvSpPr/>
          <p:nvPr/>
        </p:nvSpPr>
        <p:spPr>
          <a:xfrm>
            <a:off x="320040" y="4023360"/>
            <a:ext cx="8503920" cy="786384"/>
          </a:xfrm>
          <a:prstGeom prst="rect">
            <a:avLst/>
          </a:prstGeom>
          <a:solidFill>
            <a:srgbClr val="1A1C24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4"/>
          <p:cNvSpPr/>
          <p:nvPr/>
        </p:nvSpPr>
        <p:spPr>
          <a:xfrm>
            <a:off x="457200" y="4114800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O(n²) + O(n) = O(n² + 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4"/>
          <p:cNvSpPr/>
          <p:nvPr/>
        </p:nvSpPr>
        <p:spPr>
          <a:xfrm>
            <a:off x="3703320" y="41330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4"/>
          <p:cNvSpPr/>
          <p:nvPr/>
        </p:nvSpPr>
        <p:spPr>
          <a:xfrm>
            <a:off x="4160520" y="4114800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/>
          <p:nvPr/>
        </p:nvSpPr>
        <p:spPr>
          <a:xfrm>
            <a:off x="5715000" y="415137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Quando n cresce, n² domina completamente o termo 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4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14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5"/>
          <p:cNvSpPr/>
          <p:nvPr/>
        </p:nvSpPr>
        <p:spPr>
          <a:xfrm>
            <a:off x="320040" y="256032"/>
            <a:ext cx="1097280" cy="2560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5"/>
          <p:cNvSpPr/>
          <p:nvPr/>
        </p:nvSpPr>
        <p:spPr>
          <a:xfrm>
            <a:off x="32004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CONEXÃO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5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Seus algoritmos — classificados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15"/>
          <p:cNvCxnSpPr/>
          <p:nvPr/>
        </p:nvCxnSpPr>
        <p:spPr>
          <a:xfrm>
            <a:off x="320040" y="1371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15"/>
          <p:cNvSpPr/>
          <p:nvPr/>
        </p:nvSpPr>
        <p:spPr>
          <a:xfrm>
            <a:off x="320040" y="144475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 que você implementou, formalizado com a notação Big-O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5"/>
          <p:cNvSpPr/>
          <p:nvPr/>
        </p:nvSpPr>
        <p:spPr>
          <a:xfrm>
            <a:off x="320040" y="1737360"/>
            <a:ext cx="850392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5"/>
          <p:cNvSpPr/>
          <p:nvPr/>
        </p:nvSpPr>
        <p:spPr>
          <a:xfrm>
            <a:off x="320040" y="1737360"/>
            <a:ext cx="54864" cy="1005840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5"/>
          <p:cNvSpPr/>
          <p:nvPr/>
        </p:nvSpPr>
        <p:spPr>
          <a:xfrm>
            <a:off x="475488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Sequencial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5"/>
          <p:cNvSpPr/>
          <p:nvPr/>
        </p:nvSpPr>
        <p:spPr>
          <a:xfrm>
            <a:off x="3291840" y="179222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15"/>
          <p:cNvCxnSpPr/>
          <p:nvPr/>
        </p:nvCxnSpPr>
        <p:spPr>
          <a:xfrm>
            <a:off x="475488" y="215798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p15"/>
          <p:cNvSpPr/>
          <p:nvPr/>
        </p:nvSpPr>
        <p:spPr>
          <a:xfrm>
            <a:off x="475488" y="221284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quê: Um loop percorre todos os n elementos. Pior caso: elemento no fim ou ausente → n ciclos.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5"/>
          <p:cNvSpPr/>
          <p:nvPr/>
        </p:nvSpPr>
        <p:spPr>
          <a:xfrm>
            <a:off x="5120640" y="221284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n=10 → 10 ciclos (88 ou 50).  n=100 → 100.  n=1.000 → 1.000.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5"/>
          <p:cNvSpPr/>
          <p:nvPr/>
        </p:nvSpPr>
        <p:spPr>
          <a:xfrm>
            <a:off x="320040" y="2852928"/>
            <a:ext cx="850392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5"/>
          <p:cNvSpPr/>
          <p:nvPr/>
        </p:nvSpPr>
        <p:spPr>
          <a:xfrm>
            <a:off x="320040" y="2852928"/>
            <a:ext cx="54864" cy="1005840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5"/>
          <p:cNvSpPr/>
          <p:nvPr/>
        </p:nvSpPr>
        <p:spPr>
          <a:xfrm>
            <a:off x="475488" y="29443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Binária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5"/>
          <p:cNvSpPr/>
          <p:nvPr/>
        </p:nvSpPr>
        <p:spPr>
          <a:xfrm>
            <a:off x="3291840" y="290779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EC94E"/>
                </a:solidFill>
                <a:latin typeface="Consolas"/>
                <a:ea typeface="Consolas"/>
                <a:cs typeface="Consolas"/>
                <a:sym typeface="Consolas"/>
              </a:rPr>
              <a:t>O(log n)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0" name="Google Shape;880;p15"/>
          <p:cNvCxnSpPr/>
          <p:nvPr/>
        </p:nvCxnSpPr>
        <p:spPr>
          <a:xfrm>
            <a:off x="475488" y="327355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1" name="Google Shape;881;p15"/>
          <p:cNvSpPr/>
          <p:nvPr/>
        </p:nvSpPr>
        <p:spPr>
          <a:xfrm>
            <a:off x="475488" y="332841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quê: A cada ciclo, metade dos elementos é descartada. Pior caso: log₂n divisões.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5"/>
          <p:cNvSpPr/>
          <p:nvPr/>
        </p:nvSpPr>
        <p:spPr>
          <a:xfrm>
            <a:off x="5120640" y="3328416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n=10 → 4 ciclos.  n=100 → 7.  n=1.000 → 10.  n=1.000.000 → 20.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5"/>
          <p:cNvSpPr/>
          <p:nvPr/>
        </p:nvSpPr>
        <p:spPr>
          <a:xfrm>
            <a:off x="320040" y="3968496"/>
            <a:ext cx="8503920" cy="1005840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5"/>
          <p:cNvSpPr/>
          <p:nvPr/>
        </p:nvSpPr>
        <p:spPr>
          <a:xfrm>
            <a:off x="320040" y="3968496"/>
            <a:ext cx="54864" cy="100584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5"/>
          <p:cNvSpPr/>
          <p:nvPr/>
        </p:nvSpPr>
        <p:spPr>
          <a:xfrm>
            <a:off x="475488" y="40599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Sort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5"/>
          <p:cNvSpPr/>
          <p:nvPr/>
        </p:nvSpPr>
        <p:spPr>
          <a:xfrm>
            <a:off x="3291840" y="40233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15"/>
          <p:cNvCxnSpPr/>
          <p:nvPr/>
        </p:nvCxnSpPr>
        <p:spPr>
          <a:xfrm>
            <a:off x="475488" y="4389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15"/>
          <p:cNvSpPr/>
          <p:nvPr/>
        </p:nvSpPr>
        <p:spPr>
          <a:xfrm>
            <a:off x="475488" y="444398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quê: Loop externo n-1 vezes, interno percorre o restante. Total: n(n-1)/2 comparações.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5"/>
          <p:cNvSpPr/>
          <p:nvPr/>
        </p:nvSpPr>
        <p:spPr>
          <a:xfrm>
            <a:off x="5120640" y="4443984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n=10 → 45 comp.  n=100 → 4.950.  n=1.000 → 499.500.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5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15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6"/>
          <p:cNvSpPr/>
          <p:nvPr/>
        </p:nvSpPr>
        <p:spPr>
          <a:xfrm>
            <a:off x="320040" y="25603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DESAFIO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6"/>
          <p:cNvSpPr/>
          <p:nvPr/>
        </p:nvSpPr>
        <p:spPr>
          <a:xfrm>
            <a:off x="320040" y="621792"/>
            <a:ext cx="8503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Implemente — e sinta a diferença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6"/>
          <p:cNvSpPr/>
          <p:nvPr/>
        </p:nvSpPr>
        <p:spPr>
          <a:xfrm>
            <a:off x="320040" y="1152144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Dois algoritmos, duas classes de complexidade — use o mesmo array e compare os contadores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6"/>
          <p:cNvSpPr/>
          <p:nvPr/>
        </p:nvSpPr>
        <p:spPr>
          <a:xfrm>
            <a:off x="320040" y="1508760"/>
            <a:ext cx="4114800" cy="32918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6"/>
          <p:cNvSpPr/>
          <p:nvPr/>
        </p:nvSpPr>
        <p:spPr>
          <a:xfrm>
            <a:off x="411480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141A"/>
                </a:solidFill>
                <a:latin typeface="Calibri"/>
                <a:ea typeface="Calibri"/>
                <a:cs typeface="Calibri"/>
                <a:sym typeface="Calibri"/>
              </a:rPr>
              <a:t>Desafio 1  —  O(n²)  —  Selection Sort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6"/>
          <p:cNvSpPr/>
          <p:nvPr/>
        </p:nvSpPr>
        <p:spPr>
          <a:xfrm>
            <a:off x="320040" y="1837944"/>
            <a:ext cx="4114800" cy="14813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6"/>
          <p:cNvSpPr/>
          <p:nvPr/>
        </p:nvSpPr>
        <p:spPr>
          <a:xfrm>
            <a:off x="448056" y="192938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1  // Para i de 0 até n-1: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6"/>
          <p:cNvSpPr/>
          <p:nvPr/>
        </p:nvSpPr>
        <p:spPr>
          <a:xfrm>
            <a:off x="448056" y="213512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2  //   encontre o menor valor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6"/>
          <p:cNvSpPr/>
          <p:nvPr/>
        </p:nvSpPr>
        <p:spPr>
          <a:xfrm>
            <a:off x="448056" y="234086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3  //   entre as posições i e n-1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6"/>
          <p:cNvSpPr/>
          <p:nvPr/>
        </p:nvSpPr>
        <p:spPr>
          <a:xfrm>
            <a:off x="448056" y="254660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4  //   troque-o com arr[i]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6"/>
          <p:cNvSpPr/>
          <p:nvPr/>
        </p:nvSpPr>
        <p:spPr>
          <a:xfrm>
            <a:off x="448056" y="275234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5  //   incremente o contador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6"/>
          <p:cNvSpPr/>
          <p:nvPr/>
        </p:nvSpPr>
        <p:spPr>
          <a:xfrm>
            <a:off x="448056" y="295808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6  // Imprima array ordenado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6"/>
          <p:cNvSpPr/>
          <p:nvPr/>
        </p:nvSpPr>
        <p:spPr>
          <a:xfrm>
            <a:off x="448056" y="316382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7  // e total de comparações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6"/>
          <p:cNvSpPr/>
          <p:nvPr/>
        </p:nvSpPr>
        <p:spPr>
          <a:xfrm>
            <a:off x="320040" y="3401568"/>
            <a:ext cx="411480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6"/>
          <p:cNvSpPr/>
          <p:nvPr/>
        </p:nvSpPr>
        <p:spPr>
          <a:xfrm>
            <a:off x="438912" y="3456432"/>
            <a:ext cx="3877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O(n²)? Para cada elemento, varrer o restante. Dois loops aninhados → n × n comparações.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6"/>
          <p:cNvSpPr/>
          <p:nvPr/>
        </p:nvSpPr>
        <p:spPr>
          <a:xfrm>
            <a:off x="4709160" y="1508760"/>
            <a:ext cx="4114800" cy="329184"/>
          </a:xfrm>
          <a:prstGeom prst="rect">
            <a:avLst/>
          </a:prstGeom>
          <a:solidFill>
            <a:srgbClr val="C084FC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6"/>
          <p:cNvSpPr/>
          <p:nvPr/>
        </p:nvSpPr>
        <p:spPr>
          <a:xfrm>
            <a:off x="4800600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Desafio 2  —  O(n!)  —  Fatorial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6"/>
          <p:cNvSpPr/>
          <p:nvPr/>
        </p:nvSpPr>
        <p:spPr>
          <a:xfrm>
            <a:off x="4709160" y="1837944"/>
            <a:ext cx="4114800" cy="148132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6"/>
          <p:cNvSpPr/>
          <p:nvPr/>
        </p:nvSpPr>
        <p:spPr>
          <a:xfrm>
            <a:off x="4837176" y="192938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1  // Calcule n! usando um loop: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6"/>
          <p:cNvSpPr/>
          <p:nvPr/>
        </p:nvSpPr>
        <p:spPr>
          <a:xfrm>
            <a:off x="4837176" y="213512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2  //   resultado =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6"/>
          <p:cNvSpPr/>
          <p:nvPr/>
        </p:nvSpPr>
        <p:spPr>
          <a:xfrm>
            <a:off x="4837176" y="234086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3  //   para i de 1 até 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6"/>
          <p:cNvSpPr/>
          <p:nvPr/>
        </p:nvSpPr>
        <p:spPr>
          <a:xfrm>
            <a:off x="4837176" y="254660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4  //     resultado = resultado *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6"/>
          <p:cNvSpPr/>
          <p:nvPr/>
        </p:nvSpPr>
        <p:spPr>
          <a:xfrm>
            <a:off x="4837176" y="275234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5  //     incremente o contador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6"/>
          <p:cNvSpPr/>
          <p:nvPr/>
        </p:nvSpPr>
        <p:spPr>
          <a:xfrm>
            <a:off x="4837176" y="295808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6  // Calcule: n = 5, 8, 10, 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6"/>
          <p:cNvSpPr/>
          <p:nvPr/>
        </p:nvSpPr>
        <p:spPr>
          <a:xfrm>
            <a:off x="4837176" y="3163824"/>
            <a:ext cx="3913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 7  // Imprima: n | n! | operações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6"/>
          <p:cNvSpPr/>
          <p:nvPr/>
        </p:nvSpPr>
        <p:spPr>
          <a:xfrm>
            <a:off x="4709160" y="3401568"/>
            <a:ext cx="4114800" cy="530352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C08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6"/>
          <p:cNvSpPr/>
          <p:nvPr/>
        </p:nvSpPr>
        <p:spPr>
          <a:xfrm>
            <a:off x="4828032" y="3456432"/>
            <a:ext cx="387705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O(n!)? O resultado de n! cresce mais rápido que qualquer potência. Veja n = 12.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6"/>
          <p:cNvSpPr/>
          <p:nvPr/>
        </p:nvSpPr>
        <p:spPr>
          <a:xfrm>
            <a:off x="320040" y="4005072"/>
            <a:ext cx="8503920" cy="658368"/>
          </a:xfrm>
          <a:prstGeom prst="rect">
            <a:avLst/>
          </a:prstGeom>
          <a:solidFill>
            <a:srgbClr val="2A2D3A"/>
          </a:solidFill>
          <a:ln cap="flat" cmpd="sng" w="12700">
            <a:solidFill>
              <a:srgbClr val="3A3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6"/>
          <p:cNvSpPr/>
          <p:nvPr/>
        </p:nvSpPr>
        <p:spPr>
          <a:xfrm>
            <a:off x="457200" y="4078224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4F9EF8"/>
                </a:solidFill>
                <a:latin typeface="Consolas"/>
                <a:ea typeface="Consolas"/>
                <a:cs typeface="Consolas"/>
                <a:sym typeface="Consolas"/>
              </a:rPr>
              <a:t>Use o array  int arr[10] = {64, 25, 12, 22, 11, 90, 33, 47, 5, 78}  nos dois desafios.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6"/>
          <p:cNvSpPr/>
          <p:nvPr/>
        </p:nvSpPr>
        <p:spPr>
          <a:xfrm>
            <a:off x="457200" y="43159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Após implementar: anote os contadores e compare com a tabela de crescimento do slide anterior.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6"/>
          <p:cNvSpPr/>
          <p:nvPr/>
        </p:nvSpPr>
        <p:spPr>
          <a:xfrm>
            <a:off x="320040" y="48280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⏱  implementar no CodeBlocks → anotar contadores → comparar com a tabela Big-O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6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16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8"/>
          <p:cNvSpPr/>
          <p:nvPr/>
        </p:nvSpPr>
        <p:spPr>
          <a:xfrm>
            <a:off x="320040" y="228600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RECAPITULANDO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8"/>
          <p:cNvSpPr/>
          <p:nvPr/>
        </p:nvSpPr>
        <p:spPr>
          <a:xfrm>
            <a:off x="320040" y="658368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320040" y="1481328"/>
            <a:ext cx="201168" cy="201168"/>
          </a:xfrm>
          <a:prstGeom prst="ellipse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8"/>
          <p:cNvSpPr/>
          <p:nvPr/>
        </p:nvSpPr>
        <p:spPr>
          <a:xfrm>
            <a:off x="640080" y="143560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busca sequencial é O(n), a binária é O(log n) e o Selection Sort é O(n²) — você provou com os contadores.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8"/>
          <p:cNvSpPr/>
          <p:nvPr/>
        </p:nvSpPr>
        <p:spPr>
          <a:xfrm>
            <a:off x="320040" y="2139696"/>
            <a:ext cx="201168" cy="201168"/>
          </a:xfrm>
          <a:prstGeom prst="ellipse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8"/>
          <p:cNvSpPr/>
          <p:nvPr/>
        </p:nvSpPr>
        <p:spPr>
          <a:xfrm>
            <a:off x="640080" y="2093976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Big-O não mede segundos: mede o crescimento do número de operações em função de 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8"/>
          <p:cNvSpPr/>
          <p:nvPr/>
        </p:nvSpPr>
        <p:spPr>
          <a:xfrm>
            <a:off x="320040" y="2798064"/>
            <a:ext cx="201168" cy="201168"/>
          </a:xfrm>
          <a:prstGeom prst="ellipse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8"/>
          <p:cNvSpPr/>
          <p:nvPr/>
        </p:nvSpPr>
        <p:spPr>
          <a:xfrm>
            <a:off x="640080" y="2752344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Big-O representa o pior caso — planejamos para ele, não para a sorte.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8"/>
          <p:cNvSpPr/>
          <p:nvPr/>
        </p:nvSpPr>
        <p:spPr>
          <a:xfrm>
            <a:off x="320040" y="3456432"/>
            <a:ext cx="201168" cy="201168"/>
          </a:xfrm>
          <a:prstGeom prst="ellipse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8"/>
          <p:cNvSpPr/>
          <p:nvPr/>
        </p:nvSpPr>
        <p:spPr>
          <a:xfrm>
            <a:off x="640080" y="341071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Regras: elimine constantes, elimine termos menores, some sequenciais, multiplique aninhados.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8"/>
          <p:cNvSpPr/>
          <p:nvPr/>
        </p:nvSpPr>
        <p:spPr>
          <a:xfrm>
            <a:off x="320040" y="4114800"/>
            <a:ext cx="201168" cy="201168"/>
          </a:xfrm>
          <a:prstGeom prst="ellipse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8"/>
          <p:cNvSpPr/>
          <p:nvPr/>
        </p:nvSpPr>
        <p:spPr>
          <a:xfrm>
            <a:off x="640080" y="406908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Classes do mais rápido ao mais lento: O(1) → O(log n) → O(n) → O(n log n) → O(n²) → O(n!).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8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18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9"/>
          <p:cNvSpPr/>
          <p:nvPr/>
        </p:nvSpPr>
        <p:spPr>
          <a:xfrm>
            <a:off x="384048" y="1005840"/>
            <a:ext cx="8503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Big-O dominado.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9"/>
          <p:cNvSpPr/>
          <p:nvPr/>
        </p:nvSpPr>
        <p:spPr>
          <a:xfrm>
            <a:off x="384048" y="190195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Na próxima aula: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9"/>
          <p:cNvSpPr/>
          <p:nvPr/>
        </p:nvSpPr>
        <p:spPr>
          <a:xfrm>
            <a:off x="384048" y="2395728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9"/>
          <p:cNvSpPr/>
          <p:nvPr/>
        </p:nvSpPr>
        <p:spPr>
          <a:xfrm>
            <a:off x="384048" y="2395728"/>
            <a:ext cx="54864" cy="694944"/>
          </a:xfrm>
          <a:prstGeom prst="rect">
            <a:avLst/>
          </a:prstGeom>
          <a:solidFill>
            <a:srgbClr val="4F9EF8"/>
          </a:solidFill>
          <a:ln cap="flat" cmpd="sng" w="12700">
            <a:solidFill>
              <a:srgbClr val="4F9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9"/>
          <p:cNvSpPr/>
          <p:nvPr/>
        </p:nvSpPr>
        <p:spPr>
          <a:xfrm>
            <a:off x="548640" y="2468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9EF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9EF8"/>
                </a:solidFill>
                <a:latin typeface="Calibri"/>
                <a:ea typeface="Calibri"/>
                <a:cs typeface="Calibri"/>
                <a:sym typeface="Calibri"/>
              </a:rPr>
              <a:t>Capítulo 3 — Recursão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9"/>
          <p:cNvSpPr/>
          <p:nvPr/>
        </p:nvSpPr>
        <p:spPr>
          <a:xfrm>
            <a:off x="548640" y="2761488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Uma função que chama a si mesma — o conceito que muda tudo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9"/>
          <p:cNvSpPr/>
          <p:nvPr/>
        </p:nvSpPr>
        <p:spPr>
          <a:xfrm>
            <a:off x="384048" y="3200400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9"/>
          <p:cNvSpPr/>
          <p:nvPr/>
        </p:nvSpPr>
        <p:spPr>
          <a:xfrm>
            <a:off x="384048" y="3200400"/>
            <a:ext cx="54864" cy="694944"/>
          </a:xfrm>
          <a:prstGeom prst="rect">
            <a:avLst/>
          </a:prstGeom>
          <a:solidFill>
            <a:srgbClr val="4EC94E"/>
          </a:solidFill>
          <a:ln cap="flat" cmpd="sng" w="12700">
            <a:solidFill>
              <a:srgbClr val="4EC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9"/>
          <p:cNvSpPr/>
          <p:nvPr/>
        </p:nvSpPr>
        <p:spPr>
          <a:xfrm>
            <a:off x="548640" y="3273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9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EC94E"/>
                </a:solidFill>
                <a:latin typeface="Calibri"/>
                <a:ea typeface="Calibri"/>
                <a:cs typeface="Calibri"/>
                <a:sym typeface="Calibri"/>
              </a:rPr>
              <a:t>Caso-base e caso recursivo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9"/>
          <p:cNvSpPr/>
          <p:nvPr/>
        </p:nvSpPr>
        <p:spPr>
          <a:xfrm>
            <a:off x="548640" y="35661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Como evitar loops infinitos e quando a recursão para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9"/>
          <p:cNvSpPr/>
          <p:nvPr/>
        </p:nvSpPr>
        <p:spPr>
          <a:xfrm>
            <a:off x="384048" y="4005072"/>
            <a:ext cx="8412480" cy="69494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1C1E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"/>
          <p:cNvSpPr/>
          <p:nvPr/>
        </p:nvSpPr>
        <p:spPr>
          <a:xfrm>
            <a:off x="384048" y="4005072"/>
            <a:ext cx="54864" cy="694944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19"/>
          <p:cNvSpPr/>
          <p:nvPr/>
        </p:nvSpPr>
        <p:spPr>
          <a:xfrm>
            <a:off x="548640" y="407822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Fatorial recursivo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9"/>
          <p:cNvSpPr/>
          <p:nvPr/>
        </p:nvSpPr>
        <p:spPr>
          <a:xfrm>
            <a:off x="548640" y="437083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O mesmo fatorial que você implementou com loop — agora com recursão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9"/>
          <p:cNvSpPr/>
          <p:nvPr/>
        </p:nvSpPr>
        <p:spPr>
          <a:xfrm>
            <a:off x="384048" y="482803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Estrutura de Dados C++  |  TADS — 3° Semestre  |  IFSP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9"/>
          <p:cNvSpPr/>
          <p:nvPr/>
        </p:nvSpPr>
        <p:spPr>
          <a:xfrm>
            <a:off x="8046720" y="489204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8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8FA8"/>
                </a:solidFill>
                <a:latin typeface="Calibri"/>
                <a:ea typeface="Calibri"/>
                <a:cs typeface="Calibri"/>
                <a:sym typeface="Calibri"/>
              </a:rPr>
              <a:t>19 /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2026-03-22T21:47:41Z</dcterms:created>
  <dc:creator>PptxGenJS</dc:creator>
</cp:coreProperties>
</file>