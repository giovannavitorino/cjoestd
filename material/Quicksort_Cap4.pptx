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ILxacQnMIACo0MKDccmiI/CqEJ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" name="Google Shape;22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CAPÍTULO 4 — BHARGAVA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365760" y="438912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Quicksort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" name="Google Shape;19;p1"/>
          <p:cNvCxnSpPr/>
          <p:nvPr/>
        </p:nvCxnSpPr>
        <p:spPr>
          <a:xfrm>
            <a:off x="365760" y="106070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Dividir para conquistar — recursão aplicada à ordenação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1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365760" y="1463040"/>
            <a:ext cx="84124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8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Cap. 3 — o que vimos: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Recursão: função que chama a si mesma com um problema menor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Caso base + caso recursivo: estrutura de toda função recursiva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Pilha de chamadas: como o computador empilha as execuções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Google Shape;23;p1"/>
          <p:cNvCxnSpPr/>
          <p:nvPr/>
        </p:nvCxnSpPr>
        <p:spPr>
          <a:xfrm>
            <a:off x="365760" y="2250046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1"/>
          <p:cNvSpPr/>
          <p:nvPr/>
        </p:nvSpPr>
        <p:spPr>
          <a:xfrm>
            <a:off x="365760" y="3200400"/>
            <a:ext cx="84124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8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Esta aula — Quicksort: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Divisão e conquista — a estratégia por trás do algoritmo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Pseudocódigo de quicksort() e particionar()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libri"/>
              <a:buChar char="•"/>
            </a:pPr>
            <a:r>
              <a:rPr b="0" i="0" lang="en-US" sz="2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Visualização da partição e estratégias de pivô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DIVISÃO E CONQUISTA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365760" y="438912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estratégia por trás do Quicksort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" name="Google Shape;33;p2"/>
          <p:cNvCxnSpPr/>
          <p:nvPr/>
        </p:nvCxnSpPr>
        <p:spPr>
          <a:xfrm>
            <a:off x="365760" y="106070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2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D&amp;C — Divide and Conquer — um paradigma, não apenas um algoritmo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2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365760" y="1463040"/>
            <a:ext cx="8412480" cy="115214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365760" y="1463040"/>
            <a:ext cx="8412480" cy="54864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512064" y="1554480"/>
            <a:ext cx="8119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C9F0"/>
                </a:solidFill>
                <a:latin typeface="Calibri"/>
                <a:ea typeface="Calibri"/>
                <a:cs typeface="Calibri"/>
                <a:sym typeface="Calibri"/>
              </a:rPr>
              <a:t>PASSO 1 — Dividir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9" name="Google Shape;39;p2"/>
          <p:cNvCxnSpPr/>
          <p:nvPr/>
        </p:nvCxnSpPr>
        <p:spPr>
          <a:xfrm>
            <a:off x="512064" y="1847088"/>
            <a:ext cx="8119872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" name="Google Shape;40;p2"/>
          <p:cNvSpPr/>
          <p:nvPr/>
        </p:nvSpPr>
        <p:spPr>
          <a:xfrm>
            <a:off x="512064" y="1901952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Identificar o caso base — o problema mais simples possível.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512064" y="2194560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Para ordenação: array vazio ou com 1 elemento já está ordenado.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2560320"/>
            <a:ext cx="8412480" cy="115214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365760" y="2560320"/>
            <a:ext cx="841248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512064" y="2651760"/>
            <a:ext cx="8119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PASSO 2 — Conquistar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5" name="Google Shape;45;p2"/>
          <p:cNvCxnSpPr/>
          <p:nvPr/>
        </p:nvCxnSpPr>
        <p:spPr>
          <a:xfrm>
            <a:off x="512064" y="2944368"/>
            <a:ext cx="8119872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" name="Google Shape;46;p2"/>
          <p:cNvSpPr/>
          <p:nvPr/>
        </p:nvSpPr>
        <p:spPr>
          <a:xfrm>
            <a:off x="512064" y="2999232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Reduzir o problema até chegar no caso base.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12064" y="3291840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Dividir o array em partes menores e resolver cada uma.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65760" y="3657600"/>
            <a:ext cx="8412480" cy="1152144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65760" y="3657600"/>
            <a:ext cx="8412480" cy="5486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2"/>
          <p:cNvSpPr/>
          <p:nvPr/>
        </p:nvSpPr>
        <p:spPr>
          <a:xfrm>
            <a:off x="512064" y="3749040"/>
            <a:ext cx="8119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PASSO 3 — Combinar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2"/>
          <p:cNvCxnSpPr/>
          <p:nvPr/>
        </p:nvCxnSpPr>
        <p:spPr>
          <a:xfrm>
            <a:off x="512064" y="4041648"/>
            <a:ext cx="8119872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2"/>
          <p:cNvSpPr/>
          <p:nvPr/>
        </p:nvSpPr>
        <p:spPr>
          <a:xfrm>
            <a:off x="512064" y="4096512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Juntar as partes resolvidas — o resultado é o array ordenado.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12064" y="4389120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No Quicksort: menores + pivô + maiores = array completo ordenado.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QUICKSORT — VISÃO GERAL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365760" y="223012"/>
            <a:ext cx="8412600" cy="58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Como o Quicksort funciona?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2" name="Google Shape;62;p3"/>
          <p:cNvCxnSpPr/>
          <p:nvPr/>
        </p:nvCxnSpPr>
        <p:spPr>
          <a:xfrm>
            <a:off x="365760" y="743204"/>
            <a:ext cx="841260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" name="Google Shape;63;p3"/>
          <p:cNvSpPr/>
          <p:nvPr/>
        </p:nvSpPr>
        <p:spPr>
          <a:xfrm>
            <a:off x="365760" y="753618"/>
            <a:ext cx="84126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Três etapas em cada chamada recursiva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8046720" y="4940808"/>
            <a:ext cx="7773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3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" y="974090"/>
            <a:ext cx="8412600" cy="347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177800">
            <a:noAutofit/>
          </a:bodyPr>
          <a:lstStyle/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4CC9F0"/>
                </a:solidFill>
                <a:latin typeface="Calibri"/>
                <a:ea typeface="Calibri"/>
                <a:cs typeface="Calibri"/>
                <a:sym typeface="Calibri"/>
              </a:rPr>
              <a:t>1.  Escolha um pivô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Qualquer elemento do array — por enquanto, o último.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2.  Partição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Reorganize: menores à esquerda do pivô, maiores à direita.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     O pivô vai para a posição final — e não se move mais.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3.  Recursão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   Aplique o mesmo processo nos subarrays esq. e dir.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900"/>
              <a:buFont typeface="Calibri"/>
              <a:buChar char="•"/>
            </a:pPr>
            <a:r>
              <a:rPr b="0" i="0" lang="en-US" sz="19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     Caso base: subarray vazio ou com 1 elemento.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4483608"/>
            <a:ext cx="8412600" cy="4206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365760" y="4477258"/>
            <a:ext cx="84126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resultado = quicksort(menores) + [pivô] + quicksort(maiores)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QUICKSORT — PSEUDOCÓDIGO (1/2)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365760" y="438912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função quicksort()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6" name="Google Shape;76;p4"/>
          <p:cNvCxnSpPr/>
          <p:nvPr/>
        </p:nvCxnSpPr>
        <p:spPr>
          <a:xfrm>
            <a:off x="365760" y="106070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7" name="Google Shape;77;p4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Chama particionar() e se aplica recursivamente nos dois lados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4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365760" y="1426464"/>
            <a:ext cx="8412480" cy="354787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4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funcao quicksort(arr, esq, dir):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548640" y="18288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48640" y="2103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    // caso base — subarray de 0 ou 1 elemento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se esq &gt;= dir: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        retorne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    // particionar e obter posição final do pivô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 pos_pivo = particionar(arr, esq, dir)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    // recursão nos dois subarrays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    quicksort(arr, esq, pos_pivo - 1)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    quicksort(arr, pos_pivo + 1, dir)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Após particionar(), o pivô está na posição correta e não será movido novamente.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5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QUICKSORT — PSEUDOCÓDIGO (2/2)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5"/>
          <p:cNvSpPr/>
          <p:nvPr/>
        </p:nvSpPr>
        <p:spPr>
          <a:xfrm>
            <a:off x="365760" y="438912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função particionar()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5"/>
          <p:cNvCxnSpPr/>
          <p:nvPr/>
        </p:nvCxnSpPr>
        <p:spPr>
          <a:xfrm>
            <a:off x="365760" y="106070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5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Reorganiza o array em torno do pivô e retorna sua posição final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5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365760" y="1426464"/>
            <a:ext cx="8412480" cy="327355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5DE5"/>
                </a:solidFill>
                <a:latin typeface="Consolas"/>
                <a:ea typeface="Consolas"/>
                <a:cs typeface="Consolas"/>
                <a:sym typeface="Consolas"/>
              </a:rPr>
              <a:t>funcao particionar(arr, esq, dir):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548640" y="18288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    pivo = arr[dir]   // pivô = último elemento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21031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8892A4"/>
                </a:solidFill>
                <a:latin typeface="Consolas"/>
                <a:ea typeface="Consolas"/>
                <a:cs typeface="Consolas"/>
                <a:sym typeface="Consolas"/>
              </a:rPr>
              <a:t>    i = esq - 1      // índice do menor elemento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548640" y="23774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548640" y="26517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5DE5"/>
                </a:solidFill>
                <a:latin typeface="Consolas"/>
                <a:ea typeface="Consolas"/>
                <a:cs typeface="Consolas"/>
                <a:sym typeface="Consolas"/>
              </a:rPr>
              <a:t>    para j de esq até dir - 1: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548640" y="29260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    se arr[j] &lt;= pivo: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320040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            i = i + 1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548640" y="347472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            trocar arr[i] e arr[j]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548640" y="3749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48640" y="402336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    trocar arr[i+1] e arr[dir]  // pivô na posição certa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8640" y="42976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    retorne i + 1               // posição final do pivô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Invariante: ao final do loop, tudo em arr[esq..i] é ≤ pivô, tudo em arr[i+1..dir-1] é &gt; pivô.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QUICKSORT — VISUALIZAÇÃO (1/2)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365760" y="438912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Partição: antes e depois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" name="Google Shape;125;p6"/>
          <p:cNvCxnSpPr/>
          <p:nvPr/>
        </p:nvCxnSpPr>
        <p:spPr>
          <a:xfrm>
            <a:off x="365760" y="106070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6" name="Google Shape;126;p6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Array { 5, 3, 8, 4, 2 } — pivô = 2 (último elemento)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6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65760" y="14630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Antes: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371600" y="1463040"/>
            <a:ext cx="713232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1371600" y="1463040"/>
            <a:ext cx="713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2139696" y="1463040"/>
            <a:ext cx="713232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6"/>
          <p:cNvSpPr/>
          <p:nvPr/>
        </p:nvSpPr>
        <p:spPr>
          <a:xfrm>
            <a:off x="2139696" y="1463040"/>
            <a:ext cx="713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2907792" y="1463040"/>
            <a:ext cx="713232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2907792" y="1463040"/>
            <a:ext cx="713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3675888" y="1463040"/>
            <a:ext cx="713232" cy="457200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6"/>
          <p:cNvSpPr/>
          <p:nvPr/>
        </p:nvSpPr>
        <p:spPr>
          <a:xfrm>
            <a:off x="3675888" y="1463040"/>
            <a:ext cx="713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4443984" y="1463040"/>
            <a:ext cx="713232" cy="457200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"/>
          <p:cNvSpPr/>
          <p:nvPr/>
        </p:nvSpPr>
        <p:spPr>
          <a:xfrm>
            <a:off x="4443984" y="1463040"/>
            <a:ext cx="71323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4480560" y="14630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← pivô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365760" y="208483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500"/>
              <a:buFont typeface="Consolas"/>
              <a:buNone/>
            </a:pPr>
            <a:r>
              <a:rPr b="0" i="0" lang="en-US" sz="15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↓  particionar(arr, 0, 4)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365760" y="2523744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Depois: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371600" y="2523744"/>
            <a:ext cx="1371600" cy="457200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1371600" y="2523744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menores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{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6"/>
          <p:cNvSpPr/>
          <p:nvPr/>
        </p:nvSpPr>
        <p:spPr>
          <a:xfrm>
            <a:off x="2834640" y="2523744"/>
            <a:ext cx="640080" cy="457200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2834640" y="2523744"/>
            <a:ext cx="640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3141A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13141A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3566160" y="2523744"/>
            <a:ext cx="2560320" cy="457200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3566160" y="2523744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5DE5"/>
                </a:solidFill>
                <a:latin typeface="Consolas"/>
                <a:ea typeface="Consolas"/>
                <a:cs typeface="Consolas"/>
                <a:sym typeface="Consolas"/>
              </a:rPr>
              <a:t>maiores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9B5DE5"/>
                </a:solidFill>
                <a:latin typeface="Consolas"/>
                <a:ea typeface="Consolas"/>
                <a:cs typeface="Consolas"/>
                <a:sym typeface="Consolas"/>
              </a:rPr>
              <a:t>{ 5, 3, 8, 4 }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2560320" y="307238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pivô ✓  —  posição correta, não move mais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365760" y="3493008"/>
            <a:ext cx="8412480" cy="420624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65760" y="349300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700"/>
              <a:buFont typeface="Consolas"/>
              <a:buNone/>
            </a:pPr>
            <a:r>
              <a:rPr b="1" i="0" lang="en-US" sz="17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quicksort({ }) + [2] + quicksort({ 5, 3, 8, 4 })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365760" y="404164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quicksort({ }) retorna imediatamente — caso base.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365760" y="43159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quicksort({ 5, 3, 8, 4 }) repete o processo: escolhe pivô=4, particiona, e assim por diante.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QUICKSORT — VISUALIZAÇÃO (2/2)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365760" y="438912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recursão se aprofunda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7"/>
          <p:cNvCxnSpPr/>
          <p:nvPr/>
        </p:nvCxnSpPr>
        <p:spPr>
          <a:xfrm>
            <a:off x="365760" y="106070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" name="Google Shape;162;p7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Cada nível aplica a partição nos subarrays — até os casos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7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365760" y="1426464"/>
            <a:ext cx="8412480" cy="47548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365760" y="1426464"/>
            <a:ext cx="54864" cy="475488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7"/>
          <p:cNvSpPr/>
          <p:nvPr/>
        </p:nvSpPr>
        <p:spPr>
          <a:xfrm>
            <a:off x="530352" y="1463040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quicksort({ 5, 3, 8, 4, 2 })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5029200" y="146304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FF6B35"/>
                </a:solidFill>
                <a:latin typeface="Consolas"/>
                <a:ea typeface="Consolas"/>
                <a:cs typeface="Consolas"/>
                <a:sym typeface="Consolas"/>
              </a:rPr>
              <a:t>pivô=2  esq:{}  dir:{5,3,8,4}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822960" y="2029968"/>
            <a:ext cx="7955280" cy="47548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822960" y="2029968"/>
            <a:ext cx="54864" cy="475488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7"/>
          <p:cNvSpPr/>
          <p:nvPr/>
        </p:nvSpPr>
        <p:spPr>
          <a:xfrm>
            <a:off x="987552" y="2066544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quicksort({ 5, 3, 8, 4 })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5486400" y="2066544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pivô=4  esq:{3}  dir:{5,8}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280160" y="2633472"/>
            <a:ext cx="7498080" cy="47548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280160" y="2633472"/>
            <a:ext cx="54864" cy="47548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1444752" y="2670048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quicksort({ 3 })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/>
          <p:nvPr/>
        </p:nvSpPr>
        <p:spPr>
          <a:xfrm>
            <a:off x="5943600" y="2670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caso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1280160" y="3236976"/>
            <a:ext cx="7498080" cy="47548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1280160" y="3236976"/>
            <a:ext cx="54864" cy="475488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"/>
          <p:cNvSpPr/>
          <p:nvPr/>
        </p:nvSpPr>
        <p:spPr>
          <a:xfrm>
            <a:off x="1444752" y="3273552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quicksort({ 5, 8 })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5943600" y="3273552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4CC9F0"/>
                </a:solidFill>
                <a:latin typeface="Consolas"/>
                <a:ea typeface="Consolas"/>
                <a:cs typeface="Consolas"/>
                <a:sym typeface="Consolas"/>
              </a:rPr>
              <a:t>pivô=8  esq:{5}  dir:{}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1737360" y="3840480"/>
            <a:ext cx="7040880" cy="475488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1737360" y="3840480"/>
            <a:ext cx="54864" cy="47548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"/>
          <p:cNvSpPr/>
          <p:nvPr/>
        </p:nvSpPr>
        <p:spPr>
          <a:xfrm>
            <a:off x="1901952" y="3877056"/>
            <a:ext cx="43891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quicksort({ 5 }) e quicksort({})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7"/>
          <p:cNvSpPr/>
          <p:nvPr/>
        </p:nvSpPr>
        <p:spPr>
          <a:xfrm>
            <a:off x="6400800" y="3877056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caso 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365760" y="4553712"/>
            <a:ext cx="8412480" cy="310896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365760" y="4553712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06D6A0"/>
                </a:solidFill>
                <a:latin typeface="Consolas"/>
                <a:ea typeface="Consolas"/>
                <a:cs typeface="Consolas"/>
                <a:sym typeface="Consolas"/>
              </a:rPr>
              <a:t>Resultado: { 2, 3, 4, 5, 8 }  —  ordenado!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QUICKSORT — PIVÔ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365760" y="438912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Escolha do pivô — quatro estratégias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4" name="Google Shape;194;p8"/>
          <p:cNvCxnSpPr/>
          <p:nvPr/>
        </p:nvCxnSpPr>
        <p:spPr>
          <a:xfrm>
            <a:off x="365760" y="106070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5" name="Google Shape;195;p8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 escolha afeta diretamente o desempenho do Quicksort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8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8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8"/>
          <p:cNvSpPr/>
          <p:nvPr/>
        </p:nvSpPr>
        <p:spPr>
          <a:xfrm>
            <a:off x="365760" y="1408176"/>
            <a:ext cx="8412480" cy="71323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8"/>
          <p:cNvSpPr/>
          <p:nvPr/>
        </p:nvSpPr>
        <p:spPr>
          <a:xfrm>
            <a:off x="365760" y="1408176"/>
            <a:ext cx="54864" cy="713232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8"/>
          <p:cNvSpPr/>
          <p:nvPr/>
        </p:nvSpPr>
        <p:spPr>
          <a:xfrm>
            <a:off x="530352" y="148132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4CC9F0"/>
                </a:solidFill>
                <a:latin typeface="Calibri"/>
                <a:ea typeface="Calibri"/>
                <a:cs typeface="Calibri"/>
                <a:sym typeface="Calibri"/>
              </a:rPr>
              <a:t>Primeiro elemento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8"/>
          <p:cNvSpPr/>
          <p:nvPr/>
        </p:nvSpPr>
        <p:spPr>
          <a:xfrm>
            <a:off x="2834640" y="1481328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pivot = arr[esq]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8"/>
          <p:cNvSpPr/>
          <p:nvPr/>
        </p:nvSpPr>
        <p:spPr>
          <a:xfrm>
            <a:off x="530352" y="1792224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Ruim para arrays já ordenados → pior caso O(n²).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8"/>
          <p:cNvSpPr/>
          <p:nvPr/>
        </p:nvSpPr>
        <p:spPr>
          <a:xfrm>
            <a:off x="365760" y="2231136"/>
            <a:ext cx="8412480" cy="71323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"/>
          <p:cNvSpPr/>
          <p:nvPr/>
        </p:nvSpPr>
        <p:spPr>
          <a:xfrm>
            <a:off x="365760" y="2231136"/>
            <a:ext cx="54864" cy="71323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8"/>
          <p:cNvSpPr/>
          <p:nvPr/>
        </p:nvSpPr>
        <p:spPr>
          <a:xfrm>
            <a:off x="530352" y="230428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Último elemento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8"/>
          <p:cNvSpPr/>
          <p:nvPr/>
        </p:nvSpPr>
        <p:spPr>
          <a:xfrm>
            <a:off x="2834640" y="2304288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pivot = arr[dir]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>
            <a:off x="530352" y="2615184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Mesmo problema. É o mais fácil de implementar.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>
            <a:off x="365760" y="3054096"/>
            <a:ext cx="8412480" cy="71323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8"/>
          <p:cNvSpPr/>
          <p:nvPr/>
        </p:nvSpPr>
        <p:spPr>
          <a:xfrm>
            <a:off x="365760" y="3054096"/>
            <a:ext cx="54864" cy="71323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"/>
          <p:cNvSpPr/>
          <p:nvPr/>
        </p:nvSpPr>
        <p:spPr>
          <a:xfrm>
            <a:off x="530352" y="312724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Aleatório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2834640" y="3127248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pivot = arr[random(esq, dir)]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8"/>
          <p:cNvSpPr/>
          <p:nvPr/>
        </p:nvSpPr>
        <p:spPr>
          <a:xfrm>
            <a:off x="530352" y="3438144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Elimina o pior caso determinístico. Recomendado na prática.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8"/>
          <p:cNvSpPr/>
          <p:nvPr/>
        </p:nvSpPr>
        <p:spPr>
          <a:xfrm>
            <a:off x="365760" y="3877056"/>
            <a:ext cx="8412480" cy="71323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8"/>
          <p:cNvSpPr/>
          <p:nvPr/>
        </p:nvSpPr>
        <p:spPr>
          <a:xfrm>
            <a:off x="365760" y="3877056"/>
            <a:ext cx="54864" cy="713232"/>
          </a:xfrm>
          <a:prstGeom prst="rect">
            <a:avLst/>
          </a:prstGeom>
          <a:solidFill>
            <a:srgbClr val="9B5DE5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530352" y="3950208"/>
            <a:ext cx="2194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9B5DE5"/>
                </a:solidFill>
                <a:latin typeface="Calibri"/>
                <a:ea typeface="Calibri"/>
                <a:cs typeface="Calibri"/>
                <a:sym typeface="Calibri"/>
              </a:rPr>
              <a:t>Mediana de três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2834640" y="3950208"/>
            <a:ext cx="5852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onsolas"/>
              <a:buNone/>
            </a:pPr>
            <a:r>
              <a:rPr b="0" i="0" lang="en-US" sz="1400" u="none" cap="none" strike="noStrike">
                <a:solidFill>
                  <a:srgbClr val="FFD166"/>
                </a:solidFill>
                <a:latin typeface="Consolas"/>
                <a:ea typeface="Consolas"/>
                <a:cs typeface="Consolas"/>
                <a:sym typeface="Consolas"/>
              </a:rPr>
              <a:t>pivot = mediana(arr[esq],arr[meio],arr[dir])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530352" y="4261104"/>
            <a:ext cx="8138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Melhor equilíbrio sem sorteio.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8"/>
          <p:cNvSpPr/>
          <p:nvPr/>
        </p:nvSpPr>
        <p:spPr>
          <a:xfrm>
            <a:off x="365760" y="47731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Bhargava usa pivô aleatório — garante O(n log n) no caso médio e elimina o pior caso determinístico.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141A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QUICKSORT — COMPLEXIDADE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365760" y="438912"/>
            <a:ext cx="841248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que O(n log n) no caso médio?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9"/>
          <p:cNvCxnSpPr/>
          <p:nvPr/>
        </p:nvCxnSpPr>
        <p:spPr>
          <a:xfrm>
            <a:off x="365760" y="1060704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9"/>
          <p:cNvSpPr/>
          <p:nvPr/>
        </p:nvSpPr>
        <p:spPr>
          <a:xfrm>
            <a:off x="365760" y="1115568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E quando vira O(n²) — o pior caso que queremos evitar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9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365760" y="1408176"/>
            <a:ext cx="8412480" cy="1444752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/>
          <p:nvPr/>
        </p:nvSpPr>
        <p:spPr>
          <a:xfrm>
            <a:off x="365760" y="1408176"/>
            <a:ext cx="8412480" cy="54864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"/>
          <p:cNvSpPr/>
          <p:nvPr/>
        </p:nvSpPr>
        <p:spPr>
          <a:xfrm>
            <a:off x="512064" y="1499616"/>
            <a:ext cx="8119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CASO MÉDIO — O(n log 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2" name="Google Shape;232;p9"/>
          <p:cNvCxnSpPr/>
          <p:nvPr/>
        </p:nvCxnSpPr>
        <p:spPr>
          <a:xfrm>
            <a:off x="512064" y="1792224"/>
            <a:ext cx="8119872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3" name="Google Shape;233;p9"/>
          <p:cNvSpPr/>
          <p:nvPr/>
        </p:nvSpPr>
        <p:spPr>
          <a:xfrm>
            <a:off x="512064" y="1847088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Com pivô bem escolhido, o array se divide aproximadamente ao meio.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512064" y="2139696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log n níveis de recursão  ×  n comparações por nível  =  n log 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12064" y="2432304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É o mesmo do Merge Sort — mas Quicksort é mais rápido na prática.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365760" y="2779776"/>
            <a:ext cx="8412480" cy="1444752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9"/>
          <p:cNvSpPr/>
          <p:nvPr/>
        </p:nvSpPr>
        <p:spPr>
          <a:xfrm>
            <a:off x="365760" y="2779776"/>
            <a:ext cx="8412480" cy="54864"/>
          </a:xfrm>
          <a:prstGeom prst="rect">
            <a:avLst/>
          </a:prstGeom>
          <a:solidFill>
            <a:srgbClr val="EF233C"/>
          </a:solidFill>
          <a:ln cap="flat" cmpd="sng" w="12700">
            <a:solidFill>
              <a:srgbClr val="EF233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9"/>
          <p:cNvSpPr/>
          <p:nvPr/>
        </p:nvSpPr>
        <p:spPr>
          <a:xfrm>
            <a:off x="512064" y="2871216"/>
            <a:ext cx="8119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F233C"/>
                </a:solidFill>
                <a:latin typeface="Calibri"/>
                <a:ea typeface="Calibri"/>
                <a:cs typeface="Calibri"/>
                <a:sym typeface="Calibri"/>
              </a:rPr>
              <a:t>PIOR CASO — O(n²)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9" name="Google Shape;239;p9"/>
          <p:cNvCxnSpPr/>
          <p:nvPr/>
        </p:nvCxnSpPr>
        <p:spPr>
          <a:xfrm>
            <a:off x="512064" y="3163824"/>
            <a:ext cx="8119872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0" name="Google Shape;240;p9"/>
          <p:cNvSpPr/>
          <p:nvPr/>
        </p:nvSpPr>
        <p:spPr>
          <a:xfrm>
            <a:off x="512064" y="3218688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Quando o pivô é sempre o menor ou maior elemento do array.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512064" y="3511296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233C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F233C"/>
                </a:solidFill>
                <a:latin typeface="Calibri"/>
                <a:ea typeface="Calibri"/>
                <a:cs typeface="Calibri"/>
                <a:sym typeface="Calibri"/>
              </a:rPr>
              <a:t>Ex: array ordenado + pivô = primeiro → n níveis × n comparações.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512064" y="3803904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Solução: pivô aleatório ou mediana de três elimina esse risco.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365760" y="4114800"/>
            <a:ext cx="8412480" cy="1444752"/>
          </a:xfrm>
          <a:prstGeom prst="rect">
            <a:avLst/>
          </a:prstGeom>
          <a:solidFill>
            <a:srgbClr val="22242E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"/>
          <p:cNvSpPr/>
          <p:nvPr/>
        </p:nvSpPr>
        <p:spPr>
          <a:xfrm>
            <a:off x="365760" y="4114800"/>
            <a:ext cx="8412480" cy="54864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9"/>
          <p:cNvSpPr/>
          <p:nvPr/>
        </p:nvSpPr>
        <p:spPr>
          <a:xfrm>
            <a:off x="512064" y="4206240"/>
            <a:ext cx="811987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4CC9F0"/>
                </a:solidFill>
                <a:latin typeface="Calibri"/>
                <a:ea typeface="Calibri"/>
                <a:cs typeface="Calibri"/>
                <a:sym typeface="Calibri"/>
              </a:rPr>
              <a:t>COMPARAÇÃO COM OUTROS ALGORITMOS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9"/>
          <p:cNvCxnSpPr/>
          <p:nvPr/>
        </p:nvCxnSpPr>
        <p:spPr>
          <a:xfrm>
            <a:off x="512064" y="4498848"/>
            <a:ext cx="8119872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9"/>
          <p:cNvSpPr/>
          <p:nvPr/>
        </p:nvSpPr>
        <p:spPr>
          <a:xfrm>
            <a:off x="512064" y="4553712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Selection Sort / Bubble Sort   →  O(n²)  sempre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12064" y="4846320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Quicksort (caso médio)         →  O(n log 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512064" y="5138928"/>
            <a:ext cx="811987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n=1.000:   n² = 1.000.000  vs  n log n ≈ 10.000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E14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0"/>
          <p:cNvSpPr/>
          <p:nvPr/>
        </p:nvSpPr>
        <p:spPr>
          <a:xfrm>
            <a:off x="365760" y="164592"/>
            <a:ext cx="84124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Recapitulando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0"/>
          <p:cNvSpPr/>
          <p:nvPr/>
        </p:nvSpPr>
        <p:spPr>
          <a:xfrm>
            <a:off x="365760" y="43891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Quicksort — o que vimos hoje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10"/>
          <p:cNvCxnSpPr/>
          <p:nvPr/>
        </p:nvCxnSpPr>
        <p:spPr>
          <a:xfrm>
            <a:off x="365760" y="1042416"/>
            <a:ext cx="8412480" cy="0"/>
          </a:xfrm>
          <a:prstGeom prst="straightConnector1">
            <a:avLst/>
          </a:prstGeom>
          <a:noFill/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10"/>
          <p:cNvSpPr/>
          <p:nvPr/>
        </p:nvSpPr>
        <p:spPr>
          <a:xfrm>
            <a:off x="365760" y="1170432"/>
            <a:ext cx="8412480" cy="62179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365760" y="1170432"/>
            <a:ext cx="54864" cy="621792"/>
          </a:xfrm>
          <a:prstGeom prst="rect">
            <a:avLst/>
          </a:prstGeom>
          <a:solidFill>
            <a:srgbClr val="4CC9F0"/>
          </a:solidFill>
          <a:ln cap="flat" cmpd="sng" w="12700">
            <a:solidFill>
              <a:srgbClr val="4CC9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0"/>
          <p:cNvSpPr/>
          <p:nvPr/>
        </p:nvSpPr>
        <p:spPr>
          <a:xfrm>
            <a:off x="512064" y="1243584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C9F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4CC9F0"/>
                </a:solidFill>
                <a:latin typeface="Calibri"/>
                <a:ea typeface="Calibri"/>
                <a:cs typeface="Calibri"/>
                <a:sym typeface="Calibri"/>
              </a:rPr>
              <a:t>D&amp;C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512064" y="1517904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Dividir → conquistar → combinar. Base de vários algoritmos eficientes.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365760" y="1883664"/>
            <a:ext cx="8412480" cy="62179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"/>
          <p:cNvSpPr/>
          <p:nvPr/>
        </p:nvSpPr>
        <p:spPr>
          <a:xfrm>
            <a:off x="365760" y="1883664"/>
            <a:ext cx="54864" cy="621792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0"/>
          <p:cNvSpPr/>
          <p:nvPr/>
        </p:nvSpPr>
        <p:spPr>
          <a:xfrm>
            <a:off x="512064" y="1956816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Partição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512064" y="2231136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O pivô vai para a posição correta. Menores à esq., maiores à dir.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0"/>
          <p:cNvSpPr/>
          <p:nvPr/>
        </p:nvSpPr>
        <p:spPr>
          <a:xfrm>
            <a:off x="365760" y="2596896"/>
            <a:ext cx="8412480" cy="62179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0"/>
          <p:cNvSpPr/>
          <p:nvPr/>
        </p:nvSpPr>
        <p:spPr>
          <a:xfrm>
            <a:off x="365760" y="2596896"/>
            <a:ext cx="54864" cy="621792"/>
          </a:xfrm>
          <a:prstGeom prst="rect">
            <a:avLst/>
          </a:prstGeom>
          <a:solidFill>
            <a:srgbClr val="06D6A0"/>
          </a:solidFill>
          <a:ln cap="flat" cmpd="sng" w="12700">
            <a:solidFill>
              <a:srgbClr val="06D6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0"/>
          <p:cNvSpPr/>
          <p:nvPr/>
        </p:nvSpPr>
        <p:spPr>
          <a:xfrm>
            <a:off x="512064" y="267004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D6A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6D6A0"/>
                </a:solidFill>
                <a:latin typeface="Calibri"/>
                <a:ea typeface="Calibri"/>
                <a:cs typeface="Calibri"/>
                <a:sym typeface="Calibri"/>
              </a:rPr>
              <a:t>Recursão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0"/>
          <p:cNvSpPr/>
          <p:nvPr/>
        </p:nvSpPr>
        <p:spPr>
          <a:xfrm>
            <a:off x="512064" y="2944368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quicksort(menores) + [pivô] + quicksort(maiores). Caso base: array ≤ 1.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0"/>
          <p:cNvSpPr/>
          <p:nvPr/>
        </p:nvSpPr>
        <p:spPr>
          <a:xfrm>
            <a:off x="365760" y="3310128"/>
            <a:ext cx="8412480" cy="62179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"/>
          <p:cNvSpPr/>
          <p:nvPr/>
        </p:nvSpPr>
        <p:spPr>
          <a:xfrm>
            <a:off x="365760" y="3310128"/>
            <a:ext cx="54864" cy="621792"/>
          </a:xfrm>
          <a:prstGeom prst="rect">
            <a:avLst/>
          </a:prstGeom>
          <a:solidFill>
            <a:srgbClr val="9B5DE5"/>
          </a:solidFill>
          <a:ln cap="flat" cmpd="sng" w="12700">
            <a:solidFill>
              <a:srgbClr val="9B5D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0"/>
          <p:cNvSpPr/>
          <p:nvPr/>
        </p:nvSpPr>
        <p:spPr>
          <a:xfrm>
            <a:off x="512064" y="3383280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B5DE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9B5DE5"/>
                </a:solidFill>
                <a:latin typeface="Calibri"/>
                <a:ea typeface="Calibri"/>
                <a:cs typeface="Calibri"/>
                <a:sym typeface="Calibri"/>
              </a:rPr>
              <a:t>Pivô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0"/>
          <p:cNvSpPr/>
          <p:nvPr/>
        </p:nvSpPr>
        <p:spPr>
          <a:xfrm>
            <a:off x="512064" y="3657600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Aleatório ou mediana de três → evita o pior caso O(n²).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/>
          <p:nvPr/>
        </p:nvSpPr>
        <p:spPr>
          <a:xfrm>
            <a:off x="365760" y="4023360"/>
            <a:ext cx="8412480" cy="621792"/>
          </a:xfrm>
          <a:prstGeom prst="rect">
            <a:avLst/>
          </a:prstGeom>
          <a:solidFill>
            <a:srgbClr val="1C1E26"/>
          </a:solidFill>
          <a:ln cap="flat" cmpd="sng" w="12700">
            <a:solidFill>
              <a:srgbClr val="2A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0"/>
          <p:cNvSpPr/>
          <p:nvPr/>
        </p:nvSpPr>
        <p:spPr>
          <a:xfrm>
            <a:off x="365760" y="4023360"/>
            <a:ext cx="54864" cy="621792"/>
          </a:xfrm>
          <a:prstGeom prst="rect">
            <a:avLst/>
          </a:prstGeom>
          <a:solidFill>
            <a:srgbClr val="FFD166"/>
          </a:solidFill>
          <a:ln cap="flat" cmpd="sng" w="12700">
            <a:solidFill>
              <a:srgbClr val="FFD1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0"/>
          <p:cNvSpPr/>
          <p:nvPr/>
        </p:nvSpPr>
        <p:spPr>
          <a:xfrm>
            <a:off x="512064" y="4096512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D166"/>
                </a:solidFill>
                <a:latin typeface="Calibri"/>
                <a:ea typeface="Calibri"/>
                <a:cs typeface="Calibri"/>
                <a:sym typeface="Calibri"/>
              </a:rPr>
              <a:t>Complexidade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0"/>
          <p:cNvSpPr/>
          <p:nvPr/>
        </p:nvSpPr>
        <p:spPr>
          <a:xfrm>
            <a:off x="512064" y="4370832"/>
            <a:ext cx="8138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2A4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892A4"/>
                </a:solidFill>
                <a:latin typeface="Calibri"/>
                <a:ea typeface="Calibri"/>
                <a:cs typeface="Calibri"/>
                <a:sym typeface="Calibri"/>
              </a:rPr>
              <a:t>Caso médio O(n log n) — muito melhor que O(n²) do Selection Sort.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8046720" y="4864608"/>
            <a:ext cx="777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A2D3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2A2D3A"/>
                </a:solidFill>
                <a:latin typeface="Calibri"/>
                <a:ea typeface="Calibri"/>
                <a:cs typeface="Calibri"/>
                <a:sym typeface="Calibri"/>
              </a:rPr>
              <a:t>10 / 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2026-04-02T19:21:08Z</dcterms:created>
  <dc:creator>PptxGenJS</dc:creator>
</cp:coreProperties>
</file>