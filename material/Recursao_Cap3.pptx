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XbrQuvNqNVN+xr3KVWwikw/q2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0040" y="201168"/>
            <a:ext cx="2386584" cy="25603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219456"/>
            <a:ext cx="2386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CAPÍTULO 3 — BHARGAVA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Uma função que chama a si mesma para resolver um problema menor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" y="1664208"/>
            <a:ext cx="8503920" cy="65836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20040" y="1664208"/>
            <a:ext cx="54864" cy="65836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75488" y="1737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 é quando uma função resolve um problema reduzindo-o a uma versão menor de si mesmo,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75488" y="20116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até chegar em um caso tão simples que pode ser respondido diretamente — sem se chamar novamente.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0040" y="2487168"/>
            <a:ext cx="2743200" cy="13898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20040" y="2487168"/>
            <a:ext cx="2743200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48056" y="259689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Problema menor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48056" y="2907792"/>
            <a:ext cx="24871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Cada chamada resolve uma versão reduzida do problema original.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27832" y="2487168"/>
            <a:ext cx="2743200" cy="13898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227832" y="2487168"/>
            <a:ext cx="274320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355848" y="259689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Caso 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355848" y="2907792"/>
            <a:ext cx="24871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condição de parada — quando a função retorna sem se chamar.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135624" y="2487168"/>
            <a:ext cx="2743200" cy="13898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135624" y="2487168"/>
            <a:ext cx="27432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263640" y="259689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Caso recursivo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263640" y="2907792"/>
            <a:ext cx="24871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chamada de si mesma com um argumento que avança em direção ao caso base.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320040" y="4005072"/>
            <a:ext cx="8503920" cy="475488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457200" y="40782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Bhargava: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426464" y="407822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"Recursão é usada quando torna a solução mais clara. Não há benefício de desempenho — e às vezes loops são mais rápidos."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1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20040" y="201168"/>
            <a:ext cx="1179576" cy="25603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20040" y="219456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ESTRUTURA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base e caso recursivo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Toda função recursiva precisa dos dois — sem caso base, a recursão nunca para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" y="1664208"/>
            <a:ext cx="4114800" cy="303580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0040" y="1664208"/>
            <a:ext cx="411480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48056" y="1773936"/>
            <a:ext cx="3858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CASO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48056" y="2066544"/>
            <a:ext cx="3858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condição de parada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2"/>
          <p:cNvCxnSpPr/>
          <p:nvPr/>
        </p:nvCxnSpPr>
        <p:spPr>
          <a:xfrm>
            <a:off x="448056" y="2359152"/>
            <a:ext cx="3858768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"/>
          <p:cNvSpPr/>
          <p:nvPr/>
        </p:nvSpPr>
        <p:spPr>
          <a:xfrm>
            <a:off x="448056" y="2432304"/>
            <a:ext cx="38587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 o caso mais simples — aquele que pode ser respondido diretamente, sem precisar chamar a função novamente. Sem ele, a função entra em loop infinito e o programa trava (stack overflow).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48056" y="3712464"/>
            <a:ext cx="3858768" cy="69494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39496" y="3803904"/>
            <a:ext cx="3675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fatorial(0) → retorna 1   ← sem chamada recursiva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0" y="1664208"/>
            <a:ext cx="4114800" cy="303580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54880" y="1664208"/>
            <a:ext cx="41148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82896" y="1773936"/>
            <a:ext cx="3858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CASO RECURSIVO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82896" y="2066544"/>
            <a:ext cx="3858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chamada de si mesma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4882896" y="2359152"/>
            <a:ext cx="3858768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/>
          <p:nvPr/>
        </p:nvSpPr>
        <p:spPr>
          <a:xfrm>
            <a:off x="4882896" y="2432304"/>
            <a:ext cx="38587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 o caso geral — onde o problema é reduzido a uma versão menor e a função chama a si mesma. É obrigatório que cada chamada aproxime o problema do caso base.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82896" y="3712464"/>
            <a:ext cx="3858768" cy="69494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974336" y="3803904"/>
            <a:ext cx="3675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fatorial(n) → retorna n * fatorial(n-1)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20040" y="4773168"/>
            <a:ext cx="54864" cy="256032"/>
          </a:xfrm>
          <a:prstGeom prst="rect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75488" y="4809744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233C"/>
                </a:solidFill>
                <a:latin typeface="Calibri"/>
                <a:ea typeface="Calibri"/>
                <a:cs typeface="Calibri"/>
                <a:sym typeface="Calibri"/>
              </a:rPr>
              <a:t>Sem caso base: a função chama a si mesma indefinidamente → stack overflow → o programa encerra com erro.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320040" y="201168"/>
            <a:ext cx="1179576" cy="25603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20040" y="219456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EXEMPLO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Fatorial — passo a passo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5! = 5 × 4 × 3 × 2 × 1 = 120  —  cada chamada reduz o problema em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" y="1664208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Pseudocódigo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0040" y="1920240"/>
            <a:ext cx="4023360" cy="1682496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21208" y="2084832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funcao fatorial(n):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21208" y="2376891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// caso 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21208" y="2668951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se n == 0: retorne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21208" y="2961010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// caso recursivo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21208" y="3253069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senao: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21208" y="3545129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    retorne n * fatorial(n-1)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0" y="166420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Rastreamento — fatorial(4)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0" y="1920240"/>
            <a:ext cx="420624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681728" y="20116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fatorial(4)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309360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4 × fatorial(3)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54880" y="2468880"/>
            <a:ext cx="402336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864608" y="2560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fatorial(3)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400800" y="25603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3 × fatorial(2)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937760" y="3017520"/>
            <a:ext cx="384048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047488" y="31089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92240" y="31089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2 × fatorial(1)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120640" y="3566160"/>
            <a:ext cx="365760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230368" y="36576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583680" y="36576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1 × fatorial(0)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303520" y="4114800"/>
            <a:ext cx="347472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413248" y="42062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fatorial(0)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675120" y="42062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retorna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0" y="4681728"/>
            <a:ext cx="4206240" cy="347472"/>
          </a:xfrm>
          <a:prstGeom prst="rect">
            <a:avLst/>
          </a:prstGeom>
          <a:solidFill>
            <a:srgbClr val="0D2B1A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681728" y="4736592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fatorial(4)  =  4 × 3 × 2 × 1 × 1  =  24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20040" y="21945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CALL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pilha de chamadas — fatorial(4)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Cada chamada empilha um frame. O retorno desempilha na ordem inversa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0040" y="16642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① Empilhando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20040" y="4315968"/>
            <a:ext cx="3474720" cy="4206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20040" y="4315968"/>
            <a:ext cx="347472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38912" y="439826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fatorial(0)  → n=0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0" y="3822192"/>
            <a:ext cx="3474720" cy="4206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38912" y="390448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fatorial(1)  → n=1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20040" y="3328416"/>
            <a:ext cx="3474720" cy="4206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38912" y="341071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fatorial(2)  → n=2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0040" y="2834640"/>
            <a:ext cx="3474720" cy="4206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38912" y="291693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fatorial(3)  → n=3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20040" y="2340864"/>
            <a:ext cx="3474720" cy="4206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38912" y="242316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→ fatorial(4)  → n=4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20040" y="193852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topo 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0" y="45354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base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389120" y="166420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② Retornando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389120" y="1975104"/>
            <a:ext cx="443484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498848" y="206654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fatorial(0)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217920" y="20665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retorna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389120" y="2523744"/>
            <a:ext cx="443484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498848" y="26151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217920" y="26151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retorna 1 × 1 =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389120" y="3072384"/>
            <a:ext cx="443484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498848" y="316382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217920" y="316382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retorna 2 × 1 =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389120" y="3621024"/>
            <a:ext cx="443484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498848" y="371246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217920" y="371246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retorna 3 × 2 =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389120" y="4169664"/>
            <a:ext cx="4434840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498848" y="426110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fatorial(4)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217920" y="426110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 retorna 4 × 6 = 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389120" y="4681728"/>
            <a:ext cx="4434840" cy="329184"/>
          </a:xfrm>
          <a:prstGeom prst="rect">
            <a:avLst/>
          </a:prstGeom>
          <a:solidFill>
            <a:srgbClr val="0D2B1A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498848" y="473659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resultado final:  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320040" y="201168"/>
            <a:ext cx="1179576" cy="256032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20040" y="219456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EXEMPLO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Contagem regressiva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Um exemplo simples que mostra o que acontece sem caso 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0040" y="1664208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Pseudocódigo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0040" y="1920240"/>
            <a:ext cx="4023360" cy="175564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21208" y="2084832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função contagem(n):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21208" y="2376891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imprima 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21208" y="2668951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se n &lt;= 0: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21208" y="2961010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    retorne          ← caso 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21208" y="3253069"/>
            <a:ext cx="362102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senão: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38325" y="3545125"/>
            <a:ext cx="380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    contagem(n - 1)  ← caso recursivo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572000" y="166420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Execução — contagem(3)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0" y="1920240"/>
            <a:ext cx="4206240" cy="175564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773168" y="2084832"/>
            <a:ext cx="380390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contagem(3)  →  imprime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773168" y="2376891"/>
            <a:ext cx="380390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contagem(2)  →  imprime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773168" y="2668951"/>
            <a:ext cx="380390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contagem(1)  →  imprime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773168" y="2961010"/>
            <a:ext cx="380390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contagem(0)  →  imprime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773168" y="3253069"/>
            <a:ext cx="3803904" cy="27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n &lt;= 0  →  retorna        ← para aqui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517203" y="3785625"/>
            <a:ext cx="6306600" cy="310800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2517199" y="3785625"/>
            <a:ext cx="19500" cy="310800"/>
          </a:xfrm>
          <a:prstGeom prst="rect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694813" y="3840480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233C"/>
                </a:solidFill>
                <a:latin typeface="Calibri"/>
                <a:ea typeface="Calibri"/>
                <a:cs typeface="Calibri"/>
                <a:sym typeface="Calibri"/>
              </a:rPr>
              <a:t>O que acontece sem caso base?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20040" y="4151376"/>
            <a:ext cx="8503920" cy="8778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521208" y="4096893"/>
            <a:ext cx="810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função contagem_sem_base(n):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21208" y="4281084"/>
            <a:ext cx="810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imprima 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21208" y="4455749"/>
            <a:ext cx="810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F233C"/>
                </a:solidFill>
                <a:latin typeface="Consolas"/>
                <a:ea typeface="Consolas"/>
                <a:cs typeface="Consolas"/>
                <a:sym typeface="Consolas"/>
              </a:rPr>
              <a:t>    contagem_sem_base(n - 1)  ← sem condição de parada!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21208" y="4687565"/>
            <a:ext cx="810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F233C"/>
                </a:solidFill>
                <a:latin typeface="Consolas"/>
                <a:ea typeface="Consolas"/>
                <a:cs typeface="Consolas"/>
                <a:sym typeface="Consolas"/>
              </a:rPr>
              <a:t>    ↓  ...  n=0, n=-1, n=-2, ...  →  stack overflow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320040" y="21945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CALL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pilha de chamadas (call stack)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memória que o programa usa para rastrear onde está em cada função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20040" y="1664208"/>
            <a:ext cx="5029200" cy="325526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20040" y="1664208"/>
            <a:ext cx="5029200" cy="54864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75488" y="179222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O que é um frame?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75488" y="2029968"/>
            <a:ext cx="4754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Cada vez que uma função é chamada, um frame é empilhado. Ele armazena as variáveis locais e o ponto de retorno — onde o programa volta quando a função terminar.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75488" y="254203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Ordem LIFO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75488" y="2779776"/>
            <a:ext cx="4754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Last In, First Out — o último frame empilhado é o primeiro a ser removido. É exatamente o comportamento de uma pilha física de livros.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75488" y="329184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Stack overflow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75488" y="3529584"/>
            <a:ext cx="4754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pilha tem tamanho limitado na memória. Recursão sem caso base empilha frames infinitamente até estourar esse limite. O sistema encerra o programa com erro.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75488" y="404164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Custo de memória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75488" y="4279392"/>
            <a:ext cx="4754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Cada chamada recursiva ocupa um frame na pilha. Uma recursão profunda (n grande) usa mais memória que um loop equivalente.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577840" y="166420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Diagrama — pilha em execução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577840" y="1938528"/>
            <a:ext cx="3246120" cy="60350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687568" y="199339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fatorial(0)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687568" y="2231136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n=0  →  caso 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577840" y="2633472"/>
            <a:ext cx="3246120" cy="60350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687568" y="268833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687568" y="29260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aguardando retorno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577840" y="3328416"/>
            <a:ext cx="3246120" cy="60350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5687568" y="338328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fatorial(2)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687568" y="362102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aguardando retorno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577840" y="4023360"/>
            <a:ext cx="3246120" cy="60350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5687568" y="407822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687568" y="4315968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chamou fatorial(2)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682615" y="2009775"/>
            <a:ext cx="324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← topo (último a entrar)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20040" y="21945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 vs. iteração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7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Todo problema recursivo pode ser resolvido com um loop — a escolha é de clareza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20040" y="1664208"/>
            <a:ext cx="4114800" cy="325526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20040" y="1664208"/>
            <a:ext cx="4114800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48056" y="1773936"/>
            <a:ext cx="3858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Recursão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48056" y="2121408"/>
            <a:ext cx="38587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84632" y="2395728"/>
            <a:ext cx="91440" cy="9144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49224" y="2340864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Código mais próximo da definição matemática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84632" y="2743200"/>
            <a:ext cx="91440" cy="9144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49224" y="2688336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legível para problemas naturalmente recursivos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84632" y="3090672"/>
            <a:ext cx="91440" cy="9144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649224" y="3035808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Ideal para árvores, grafos e divisão de problemas (Quicksort, Merge Sort)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7"/>
          <p:cNvCxnSpPr/>
          <p:nvPr/>
        </p:nvCxnSpPr>
        <p:spPr>
          <a:xfrm>
            <a:off x="448056" y="3438144"/>
            <a:ext cx="3858768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48056" y="3511296"/>
            <a:ext cx="38587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233C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84632" y="3767328"/>
            <a:ext cx="91440" cy="91440"/>
          </a:xfrm>
          <a:prstGeom prst="ellipse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649224" y="3712464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Usa mais memória — um frame por chamada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84632" y="4114800"/>
            <a:ext cx="91440" cy="91440"/>
          </a:xfrm>
          <a:prstGeom prst="ellipse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49224" y="4059936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Risco de stack overflow para n muito grande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84632" y="4462272"/>
            <a:ext cx="91440" cy="91440"/>
          </a:xfrm>
          <a:prstGeom prst="ellipse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49224" y="4407408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Pode ser mais lento por overhead de chamadas de função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754880" y="1664208"/>
            <a:ext cx="4114800" cy="325526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4754880" y="1664208"/>
            <a:ext cx="41148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4882896" y="1773936"/>
            <a:ext cx="3858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Iteração (loop)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882896" y="2121408"/>
            <a:ext cx="38587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919472" y="2395728"/>
            <a:ext cx="91440" cy="914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5084064" y="2340864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constante de memória — sem pilha de chamadas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919472" y="2743200"/>
            <a:ext cx="91440" cy="914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5084064" y="2688336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Geralmente mais rápido em C++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919472" y="3090672"/>
            <a:ext cx="91440" cy="914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5084064" y="3035808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risco de stack overflow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7"/>
          <p:cNvCxnSpPr/>
          <p:nvPr/>
        </p:nvCxnSpPr>
        <p:spPr>
          <a:xfrm>
            <a:off x="4882896" y="3438144"/>
            <a:ext cx="3858768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7"/>
          <p:cNvSpPr/>
          <p:nvPr/>
        </p:nvSpPr>
        <p:spPr>
          <a:xfrm>
            <a:off x="4882896" y="3511296"/>
            <a:ext cx="38587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233C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19472" y="3767328"/>
            <a:ext cx="91440" cy="91440"/>
          </a:xfrm>
          <a:prstGeom prst="ellipse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84064" y="3712464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Código pode ficar mais complexo e menos legível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919472" y="4114800"/>
            <a:ext cx="91440" cy="91440"/>
          </a:xfrm>
          <a:prstGeom prst="ellipse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5084064" y="4059936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Requer variável de estado explícita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919472" y="4462272"/>
            <a:ext cx="91440" cy="91440"/>
          </a:xfrm>
          <a:prstGeom prst="ellipse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5084064" y="4407408"/>
            <a:ext cx="3675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Difícil para problemas recursivos por natureza (ex.: travessia de árvore)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20040" y="4974336"/>
            <a:ext cx="8503920" cy="256032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57200" y="5010912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Bhargava: use recursão quando tornar o código mais legível. Não use quando o problema é simples o suficiente para um loop.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2004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Implemente em C++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Use o arquivo .cpp fornecido — compile no CodeBlocks e observe a saída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20040" y="1481328"/>
            <a:ext cx="8503920" cy="74980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320040" y="1481328"/>
            <a:ext cx="457200" cy="74980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320040" y="1682496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96112" y="15544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★☆☆  Fatorial iterativo vs. recursivo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96112" y="182880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Implemente fatorial_loop() e fatorial_rec(). Para n=5, os dois devem retornar 120. Adicione um contador de chamadas na versão recursiva.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20040" y="2322576"/>
            <a:ext cx="8503920" cy="74980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224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320040" y="2322576"/>
            <a:ext cx="457200" cy="7498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20040" y="2523744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96112" y="23957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★☆☆  Contagem regressiva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896112" y="267004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Implemente contagem(n) que imprime de n até 0. Teste com n=5 e observe a pilha. Depois remova o caso base e veja o que acontece.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20040" y="3163824"/>
            <a:ext cx="8503920" cy="74980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20040" y="3163824"/>
            <a:ext cx="457200" cy="749808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320040" y="3364992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96112" y="323697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★★☆  Soma de uma lista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96112" y="3511296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Implemente soma(lista[], tamanho) recursivamente. O caso base é lista de 1 elemento. O caso recursivo soma o primeiro com soma do restante.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20040" y="4005072"/>
            <a:ext cx="8503920" cy="74980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224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320040" y="4005072"/>
            <a:ext cx="457200" cy="749808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320040" y="42062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96112" y="407822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★★★  Potência (base^exp)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96112" y="435254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Implemente potencia(base, exp) sem usar pow(). Caso base: exp==0 retorna 1. Caso recursivo: base * potencia(base, exp-1). Teste com potencia(2,10).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320040" y="201168"/>
            <a:ext cx="1581912" cy="25603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320040" y="219456"/>
            <a:ext cx="1581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RECAPITULANDO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20040" y="5669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Recapitulando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>
            <a:off x="320040" y="1261872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9"/>
          <p:cNvSpPr/>
          <p:nvPr/>
        </p:nvSpPr>
        <p:spPr>
          <a:xfrm>
            <a:off x="320040" y="131673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 que vimos hoje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320040" y="1664208"/>
            <a:ext cx="8503920" cy="54864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320040" y="1664208"/>
            <a:ext cx="54864" cy="54864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57200" y="1865376"/>
            <a:ext cx="146304" cy="146304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713232" y="175564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Recursão: uma função que chama a si mesma para resolver versões menores do problema.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20040" y="2304288"/>
            <a:ext cx="8503920" cy="54864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320040" y="2304288"/>
            <a:ext cx="54864" cy="548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457200" y="2505456"/>
            <a:ext cx="146304" cy="146304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713232" y="239572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base: condição de parada obrigatória — sem ela, o programa entra em loop infinito (stack overflow).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20040" y="2944368"/>
            <a:ext cx="8503920" cy="54864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320040" y="2944368"/>
            <a:ext cx="54864" cy="54864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457200" y="3145536"/>
            <a:ext cx="146304" cy="146304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713232" y="303580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recursivo: cada chamada deve aproximar o problema do caso base.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320040" y="3584448"/>
            <a:ext cx="8503920" cy="54864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320040" y="3584448"/>
            <a:ext cx="54864" cy="548640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57200" y="3785616"/>
            <a:ext cx="146304" cy="146304"/>
          </a:xfrm>
          <a:prstGeom prst="ellipse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713232" y="367588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Pilha de chamadas: cada chamada empilha um frame com variáveis locais. O retorno desempilha na ordem inversa (LIFO).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20040" y="4224528"/>
            <a:ext cx="54864" cy="548640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57200" y="4425696"/>
            <a:ext cx="146304" cy="146304"/>
          </a:xfrm>
          <a:prstGeom prst="ellipse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713232" y="43159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 vs. iteração: todo problema recursivo pode ser resolvido com loop — use recursão quando o código ficar mais claro.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384048" y="91440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 — dominada.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384048" y="164592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Na próxima aula: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84048" y="2084832"/>
            <a:ext cx="8412480" cy="69494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84048" y="2084832"/>
            <a:ext cx="54864" cy="69494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48640" y="21579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Capítulo 4 — Quicksort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48640" y="246888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 algoritmo de ordenação mais usado na prática — e que depende diretamente de recursão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384048" y="2889504"/>
            <a:ext cx="8412480" cy="69494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384048" y="2889504"/>
            <a:ext cx="54864" cy="69494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548640" y="29626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Dividir para conquistar (D&amp;C)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48640" y="327355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estratégia por trás do Quicksort — e de vários outros algoritmos eficientes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384048" y="3694176"/>
            <a:ext cx="8412480" cy="69494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384048" y="3694176"/>
            <a:ext cx="54864" cy="694944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548640" y="37673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Big-O do Quicksort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48640" y="40782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Por que O(n log n) no caso médio — e como isso se compara com o Selection Sort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84048" y="482803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Estruturas de Dados em C++  |  TADS 3° Semestre  |  IFSP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2026-03-23T23:42:14Z</dcterms:created>
  <dc:creator>PptxGenJS</dc:creator>
</cp:coreProperties>
</file>